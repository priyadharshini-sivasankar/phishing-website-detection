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 id="285" r:id="rId30"/>
    <p:sldId id="286" r:id="rId31"/>
    <p:sldId id="287" r:id="rId32"/>
    <p:sldId id="288" r:id="rId33"/>
    <p:sldId id="292" r:id="rId34"/>
    <p:sldId id="293" r:id="rId35"/>
  </p:sldIdLst>
  <p:sldSz cx="18288000" cy="10287000"/>
  <p:notesSz cx="6858000" cy="9144000"/>
  <p:embeddedFontLst>
    <p:embeddedFont>
      <p:font typeface="Canva Sans" panose="020B0604020202020204" charset="0"/>
      <p:regular r:id="rId37"/>
    </p:embeddedFont>
    <p:embeddedFont>
      <p:font typeface="Canva Sans Bold"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C23D55-442D-4596-9A1A-0AF4FBA2E654}" type="datetimeFigureOut">
              <a:rPr lang="en-IN" smtClean="0"/>
              <a:t>23-Apr-2026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A5B58B-35D3-433B-AF99-29A7C47622E2}" type="slidenum">
              <a:rPr lang="en-IN" smtClean="0"/>
              <a:t>‹#›</a:t>
            </a:fld>
            <a:endParaRPr lang="en-IN"/>
          </a:p>
        </p:txBody>
      </p:sp>
    </p:spTree>
    <p:extLst>
      <p:ext uri="{BB962C8B-B14F-4D97-AF65-F5344CB8AC3E}">
        <p14:creationId xmlns:p14="http://schemas.microsoft.com/office/powerpoint/2010/main" val="3918438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A5B58B-35D3-433B-AF99-29A7C47622E2}" type="slidenum">
              <a:rPr lang="en-IN" smtClean="0"/>
              <a:t>19</a:t>
            </a:fld>
            <a:endParaRPr lang="en-IN"/>
          </a:p>
        </p:txBody>
      </p:sp>
    </p:spTree>
    <p:extLst>
      <p:ext uri="{BB962C8B-B14F-4D97-AF65-F5344CB8AC3E}">
        <p14:creationId xmlns:p14="http://schemas.microsoft.com/office/powerpoint/2010/main" val="4192543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21641" y="3529879"/>
            <a:ext cx="13644719" cy="2948308"/>
          </a:xfrm>
          <a:prstGeom prst="rect">
            <a:avLst/>
          </a:prstGeom>
        </p:spPr>
        <p:txBody>
          <a:bodyPr lIns="0" tIns="0" rIns="0" bIns="0" rtlCol="0" anchor="t">
            <a:spAutoFit/>
          </a:bodyPr>
          <a:lstStyle/>
          <a:p>
            <a:pPr algn="ctr">
              <a:lnSpc>
                <a:spcPts val="7901"/>
              </a:lnSpc>
            </a:pPr>
            <a:r>
              <a:rPr lang="en-US" sz="5400" b="1" dirty="0">
                <a:solidFill>
                  <a:srgbClr val="000000"/>
                </a:solidFill>
                <a:latin typeface="Times New Roman" panose="02020603050405020304" pitchFamily="18" charset="0"/>
                <a:ea typeface="Alegreya Sans SC"/>
                <a:cs typeface="Times New Roman" panose="02020603050405020304" pitchFamily="18" charset="0"/>
                <a:sym typeface="Alegreya Sans SC"/>
              </a:rPr>
              <a:t>PHISHING DETECTION USING BEHAVIOURAL  CUES BROWSER INTERACTION </a:t>
            </a: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739935" y="4256196"/>
            <a:ext cx="12808130" cy="2357825"/>
          </a:xfrm>
          <a:prstGeom prst="rect">
            <a:avLst/>
          </a:prstGeom>
        </p:spPr>
        <p:txBody>
          <a:bodyPr lIns="0" tIns="0" rIns="0" bIns="0" rtlCol="0" anchor="t">
            <a:spAutoFit/>
          </a:bodyPr>
          <a:lstStyle/>
          <a:p>
            <a:pPr>
              <a:lnSpc>
                <a:spcPts val="6337"/>
              </a:lnSpc>
            </a:pPr>
            <a:r>
              <a:rPr lang="en-US" sz="4527" dirty="0">
                <a:solidFill>
                  <a:srgbClr val="000000"/>
                </a:solidFill>
                <a:latin typeface="Times New Roman" panose="02020603050405020304" pitchFamily="18" charset="0"/>
                <a:ea typeface="Fira Sans"/>
                <a:cs typeface="Times New Roman" panose="02020603050405020304" pitchFamily="18" charset="0"/>
                <a:sym typeface="Fira Sans"/>
              </a:rPr>
              <a:t>           PRIYADHARSHINI S  (922222104039)</a:t>
            </a:r>
          </a:p>
          <a:p>
            <a:pPr>
              <a:lnSpc>
                <a:spcPts val="6337"/>
              </a:lnSpc>
            </a:pPr>
            <a:r>
              <a:rPr lang="en-US" sz="4527" dirty="0">
                <a:solidFill>
                  <a:srgbClr val="000000"/>
                </a:solidFill>
                <a:latin typeface="Times New Roman" panose="02020603050405020304" pitchFamily="18" charset="0"/>
                <a:ea typeface="Fira Sans"/>
                <a:cs typeface="Times New Roman" panose="02020603050405020304" pitchFamily="18" charset="0"/>
                <a:sym typeface="Fira Sans"/>
              </a:rPr>
              <a:t>           SANDHIYA K               (922222104040)</a:t>
            </a:r>
          </a:p>
          <a:p>
            <a:pPr>
              <a:lnSpc>
                <a:spcPts val="6337"/>
              </a:lnSpc>
            </a:pPr>
            <a:r>
              <a:rPr lang="en-US" sz="4527" dirty="0">
                <a:solidFill>
                  <a:srgbClr val="000000"/>
                </a:solidFill>
                <a:latin typeface="Times New Roman" panose="02020603050405020304" pitchFamily="18" charset="0"/>
                <a:ea typeface="Fira Sans"/>
                <a:cs typeface="Times New Roman" panose="02020603050405020304" pitchFamily="18" charset="0"/>
                <a:sym typeface="Fira Sans"/>
              </a:rPr>
              <a:t>           THANGAMAYIL R      (922222104048)</a:t>
            </a:r>
          </a:p>
        </p:txBody>
      </p:sp>
      <p:sp>
        <p:nvSpPr>
          <p:cNvPr id="3" name="TextBox 3"/>
          <p:cNvSpPr txBox="1"/>
          <p:nvPr/>
        </p:nvSpPr>
        <p:spPr>
          <a:xfrm>
            <a:off x="4784487" y="2415799"/>
            <a:ext cx="8719027" cy="1211678"/>
          </a:xfrm>
          <a:prstGeom prst="rect">
            <a:avLst/>
          </a:prstGeom>
        </p:spPr>
        <p:txBody>
          <a:bodyPr lIns="0" tIns="0" rIns="0" bIns="0" rtlCol="0" anchor="t">
            <a:spAutoFit/>
          </a:bodyPr>
          <a:lstStyle/>
          <a:p>
            <a:pPr algn="ctr">
              <a:lnSpc>
                <a:spcPts val="10296"/>
              </a:lnSpc>
              <a:spcBef>
                <a:spcPct val="0"/>
              </a:spcBef>
            </a:pPr>
            <a:r>
              <a:rPr lang="en-US" sz="7354"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Team Members</a:t>
            </a:r>
          </a:p>
        </p:txBody>
      </p:sp>
      <p:sp>
        <p:nvSpPr>
          <p:cNvPr id="4" name="TextBox 4"/>
          <p:cNvSpPr txBox="1"/>
          <p:nvPr/>
        </p:nvSpPr>
        <p:spPr>
          <a:xfrm>
            <a:off x="8866672" y="7265211"/>
            <a:ext cx="5615271" cy="777136"/>
          </a:xfrm>
          <a:prstGeom prst="rect">
            <a:avLst/>
          </a:prstGeom>
        </p:spPr>
        <p:txBody>
          <a:bodyPr lIns="0" tIns="0" rIns="0" bIns="0" rtlCol="0" anchor="t">
            <a:spAutoFit/>
          </a:bodyPr>
          <a:lstStyle/>
          <a:p>
            <a:pPr algn="ctr">
              <a:lnSpc>
                <a:spcPts val="6630"/>
              </a:lnSpc>
              <a:spcBef>
                <a:spcPct val="0"/>
              </a:spcBef>
            </a:pPr>
            <a:r>
              <a:rPr lang="en-US" sz="4736"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Guided by</a:t>
            </a:r>
          </a:p>
        </p:txBody>
      </p:sp>
      <p:sp>
        <p:nvSpPr>
          <p:cNvPr id="5" name="TextBox 5"/>
          <p:cNvSpPr txBox="1"/>
          <p:nvPr/>
        </p:nvSpPr>
        <p:spPr>
          <a:xfrm>
            <a:off x="8684421" y="8290385"/>
            <a:ext cx="6651127" cy="446661"/>
          </a:xfrm>
          <a:prstGeom prst="rect">
            <a:avLst/>
          </a:prstGeom>
        </p:spPr>
        <p:txBody>
          <a:bodyPr lIns="0" tIns="0" rIns="0" bIns="0" rtlCol="0" anchor="t">
            <a:spAutoFit/>
          </a:bodyPr>
          <a:lstStyle/>
          <a:p>
            <a:pPr algn="ctr">
              <a:lnSpc>
                <a:spcPts val="3780"/>
              </a:lnSpc>
            </a:pPr>
            <a:r>
              <a:rPr lang="en-US" sz="2700" b="1" dirty="0">
                <a:solidFill>
                  <a:srgbClr val="000000"/>
                </a:solidFill>
                <a:latin typeface="Times New Roman" panose="02020603050405020304" pitchFamily="18" charset="0"/>
                <a:ea typeface="Canva Sans Bold"/>
                <a:cs typeface="Times New Roman" panose="02020603050405020304" pitchFamily="18" charset="0"/>
                <a:sym typeface="Canva Sans Bold"/>
              </a:rPr>
              <a:t>K AYYAPPARAJA  AP / CSE</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84487" y="370884"/>
            <a:ext cx="8719027" cy="1134926"/>
          </a:xfrm>
          <a:prstGeom prst="rect">
            <a:avLst/>
          </a:prstGeom>
        </p:spPr>
        <p:txBody>
          <a:bodyPr lIns="0" tIns="0" rIns="0" bIns="0" rtlCol="0" anchor="t">
            <a:spAutoFit/>
          </a:bodyPr>
          <a:lstStyle/>
          <a:p>
            <a:pPr algn="ctr">
              <a:lnSpc>
                <a:spcPts val="10296"/>
              </a:lnSpc>
              <a:spcBef>
                <a:spcPct val="0"/>
              </a:spcBef>
            </a:pPr>
            <a:r>
              <a:rPr lang="en-US" sz="48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INTRODUCTION</a:t>
            </a:r>
          </a:p>
        </p:txBody>
      </p:sp>
      <p:sp>
        <p:nvSpPr>
          <p:cNvPr id="3" name="TextBox 3"/>
          <p:cNvSpPr txBox="1"/>
          <p:nvPr/>
        </p:nvSpPr>
        <p:spPr>
          <a:xfrm>
            <a:off x="3048000" y="2019300"/>
            <a:ext cx="13335000" cy="6385851"/>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itchFamily="18" charset="0"/>
              </a:rPr>
              <a:t>Phishing attacks are major cyber security threats, causing over 90% of data breaches and costing organizations billions annually.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itchFamily="18" charset="0"/>
              </a:rPr>
              <a:t>Web applications are frequently targeted by cyber attackers exploiting vulnerabilities such as SQL Injection, Cross-Site Scripting (XSS), and broken authentication.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itchFamily="18" charset="0"/>
              </a:rPr>
              <a:t>These vulnerabilities arise due to poor coding practices, misconfigurations, and insecure data handling.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itchFamily="18" charset="0"/>
              </a:rPr>
              <a:t>As organizations increasingly depend on web platforms, protecting sensitive data and ensuring application integrity is essential. Therefore, an effective and automated vulnerability detection system is required to identify and mitigate security threats at an early stage.</a:t>
            </a:r>
            <a:endParaRPr lang="en-US" sz="2800" dirty="0">
              <a:solidFill>
                <a:srgbClr val="000000"/>
              </a:solidFill>
              <a:latin typeface="Times New Roman" panose="02020603050405020304" pitchFamily="18" charset="0"/>
              <a:ea typeface="Fira Sans"/>
              <a:cs typeface="Times New Roman" panose="02020603050405020304" pitchFamily="18" charset="0"/>
              <a:sym typeface="Fira Sans"/>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048000" y="1866900"/>
            <a:ext cx="13716000" cy="7193764"/>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project focuses on detecting phishing and web vulnerabilities using behavioral cues in browser interaction.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a:t>
            </a:r>
            <a:r>
              <a:rPr lang="en-US" sz="2800" b="1" dirty="0">
                <a:latin typeface="Times New Roman" panose="02020603050405020304" pitchFamily="18" charset="0"/>
                <a:cs typeface="Times New Roman" pitchFamily="18" charset="0"/>
              </a:rPr>
              <a:t> </a:t>
            </a:r>
            <a:r>
              <a:rPr lang="en-US" sz="2800" dirty="0">
                <a:latin typeface="Times New Roman" panose="02020603050405020304" pitchFamily="18" charset="0"/>
                <a:cs typeface="Times New Roman" pitchFamily="18" charset="0"/>
              </a:rPr>
              <a:t>Uses a Random Forest classifier trained on extracted  user interaction features.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itchFamily="18" charset="0"/>
              </a:rPr>
              <a:t>Our proposed system introduces a novel approach by </a:t>
            </a:r>
            <a:r>
              <a:rPr lang="en-US" sz="2800" dirty="0" err="1">
                <a:latin typeface="Times New Roman" panose="02020603050405020304" pitchFamily="18" charset="0"/>
                <a:cs typeface="Times New Roman" pitchFamily="18" charset="0"/>
              </a:rPr>
              <a:t>anlysing</a:t>
            </a:r>
            <a:r>
              <a:rPr lang="en-US" sz="2800" dirty="0">
                <a:latin typeface="Times New Roman" panose="02020603050405020304" pitchFamily="18" charset="0"/>
                <a:cs typeface="Times New Roman" pitchFamily="18" charset="0"/>
              </a:rPr>
              <a:t> real-time  user interaction pattern including mouse movements, click </a:t>
            </a:r>
            <a:r>
              <a:rPr lang="en-US" sz="2800" dirty="0" err="1">
                <a:latin typeface="Times New Roman" panose="02020603050405020304" pitchFamily="18" charset="0"/>
                <a:cs typeface="Times New Roman" pitchFamily="18" charset="0"/>
              </a:rPr>
              <a:t>behaviour</a:t>
            </a:r>
            <a:r>
              <a:rPr lang="en-US" sz="2800" dirty="0">
                <a:latin typeface="Times New Roman" panose="02020603050405020304" pitchFamily="18" charset="0"/>
                <a:cs typeface="Times New Roman" pitchFamily="18" charset="0"/>
              </a:rPr>
              <a:t> , keystroke dynamics , scrolling activity, and session duration to distinguish between legitimate and phishing websites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itchFamily="18" charset="0"/>
              </a:rPr>
              <a:t>It Focuses on dynamic user behavior rather than static website characteristics.</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itchFamily="18" charset="0"/>
              </a:rPr>
              <a:t>The proposed system enhances security by enabling continuous monitoring, faster detection, and improved accuracy, thereby reducing risks  data breaches, financial loss, and system compromise.</a:t>
            </a:r>
          </a:p>
          <a:p>
            <a:pPr marL="457200" indent="-457200" algn="just">
              <a:lnSpc>
                <a:spcPct val="200000"/>
              </a:lnSpc>
              <a:buFont typeface="Arial" panose="020B0604020202020204" pitchFamily="34" charset="0"/>
              <a:buChar char="•"/>
            </a:pPr>
            <a:endParaRPr lang="en-US" sz="2800" dirty="0">
              <a:latin typeface="Times New Roman" panose="02020603050405020304" pitchFamily="18" charset="0"/>
              <a:cs typeface="Times New Roman" pitchFamily="18" charset="0"/>
            </a:endParaRPr>
          </a:p>
        </p:txBody>
      </p:sp>
      <p:sp>
        <p:nvSpPr>
          <p:cNvPr id="3" name="TextBox 3"/>
          <p:cNvSpPr txBox="1"/>
          <p:nvPr/>
        </p:nvSpPr>
        <p:spPr>
          <a:xfrm>
            <a:off x="4784487" y="317360"/>
            <a:ext cx="8719027" cy="1134926"/>
          </a:xfrm>
          <a:prstGeom prst="rect">
            <a:avLst/>
          </a:prstGeom>
        </p:spPr>
        <p:txBody>
          <a:bodyPr lIns="0" tIns="0" rIns="0" bIns="0" rtlCol="0" anchor="t">
            <a:spAutoFit/>
          </a:bodyPr>
          <a:lstStyle/>
          <a:p>
            <a:pPr algn="ctr">
              <a:lnSpc>
                <a:spcPts val="10296"/>
              </a:lnSpc>
              <a:spcBef>
                <a:spcPct val="0"/>
              </a:spcBef>
            </a:pPr>
            <a:r>
              <a:rPr lang="en-US" sz="48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ABSTRACT </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581400" y="1943100"/>
            <a:ext cx="12801600" cy="5245589"/>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existing system detects phishing emails mainly using Natural Language Processing (NLP) techniques.</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analyzes email content, such as subject lines, body text, keywords, and URLs.</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identifies phishing by detecting suspicious words, urgency phrases, and malicious links.</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Detection is performed based on static content patterns present in the message.</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Developers and security analysts inspect the application code to identify potential vulnerabilities based on their experience and knowledge.</a:t>
            </a:r>
          </a:p>
        </p:txBody>
      </p:sp>
      <p:sp>
        <p:nvSpPr>
          <p:cNvPr id="3" name="TextBox 3"/>
          <p:cNvSpPr txBox="1"/>
          <p:nvPr/>
        </p:nvSpPr>
        <p:spPr>
          <a:xfrm>
            <a:off x="4780137" y="183889"/>
            <a:ext cx="8719027" cy="1134926"/>
          </a:xfrm>
          <a:prstGeom prst="rect">
            <a:avLst/>
          </a:prstGeom>
        </p:spPr>
        <p:txBody>
          <a:bodyPr lIns="0" tIns="0" rIns="0" bIns="0" rtlCol="0" anchor="t">
            <a:spAutoFit/>
          </a:bodyPr>
          <a:lstStyle/>
          <a:p>
            <a:pPr algn="ctr">
              <a:lnSpc>
                <a:spcPts val="10296"/>
              </a:lnSpc>
              <a:spcBef>
                <a:spcPct val="0"/>
              </a:spcBef>
            </a:pPr>
            <a:r>
              <a:rPr lang="en-US" sz="48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EXISTING SYSTEM</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38600" y="2705100"/>
            <a:ext cx="11201400" cy="5536387"/>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fails to detect phishing attacks that use legitimate-looking language.</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High chance of false positives for genuine emails that contain urgent or transactional language.</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Less effective against social engineering attacks that exploit human psychology</a:t>
            </a:r>
            <a:r>
              <a:rPr lang="en-US" dirty="0">
                <a:latin typeface="Times New Roman" panose="02020603050405020304" pitchFamily="18" charset="0"/>
                <a:cs typeface="Times New Roman" panose="02020603050405020304" pitchFamily="18" charset="0"/>
              </a:rPr>
              <a:t>.</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Signature-based detection can identify only known vulnerabilities.</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Unable to detect new or evolving cyber attacks (zero-day attacks).</a:t>
            </a:r>
          </a:p>
          <a:p>
            <a:pPr marL="457200" indent="-457200" algn="just">
              <a:lnSpc>
                <a:spcPct val="15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3" name="TextBox 3"/>
          <p:cNvSpPr txBox="1"/>
          <p:nvPr/>
        </p:nvSpPr>
        <p:spPr>
          <a:xfrm>
            <a:off x="1269343" y="967415"/>
            <a:ext cx="15551448" cy="1084464"/>
          </a:xfrm>
          <a:prstGeom prst="rect">
            <a:avLst/>
          </a:prstGeom>
        </p:spPr>
        <p:txBody>
          <a:bodyPr lIns="0" tIns="0" rIns="0" bIns="0" rtlCol="0" anchor="t">
            <a:spAutoFit/>
          </a:bodyPr>
          <a:lstStyle/>
          <a:p>
            <a:pPr algn="ctr">
              <a:lnSpc>
                <a:spcPts val="9866"/>
              </a:lnSpc>
              <a:spcBef>
                <a:spcPct val="0"/>
              </a:spcBef>
            </a:pPr>
            <a:r>
              <a:rPr lang="en-US" sz="4400" b="1" dirty="0">
                <a:solidFill>
                  <a:srgbClr val="000000"/>
                </a:solidFill>
                <a:latin typeface="Times New Roman" panose="02020603050405020304" pitchFamily="18" charset="0"/>
                <a:ea typeface="Alegreya Sans SC"/>
                <a:cs typeface="Times New Roman" panose="02020603050405020304" pitchFamily="18" charset="0"/>
                <a:sym typeface="Alegreya Sans SC"/>
              </a:rPr>
              <a:t>DISADVANTAGES OF EXISTING SYSTEM</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rot="10800000" flipV="1">
            <a:off x="2590799" y="3779029"/>
            <a:ext cx="13715998" cy="430887"/>
          </a:xfrm>
          <a:prstGeom prst="rect">
            <a:avLst/>
          </a:prstGeom>
        </p:spPr>
        <p:txBody>
          <a:bodyPr wrap="square" lIns="0" tIns="0" rIns="0" bIns="0" rtlCol="0" anchor="t">
            <a:spAutoFit/>
          </a:bodyPr>
          <a:lstStyle/>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3" name="TextBox 3"/>
          <p:cNvSpPr txBox="1"/>
          <p:nvPr/>
        </p:nvSpPr>
        <p:spPr>
          <a:xfrm>
            <a:off x="3657601" y="26484"/>
            <a:ext cx="11048999" cy="1122936"/>
          </a:xfrm>
          <a:prstGeom prst="rect">
            <a:avLst/>
          </a:prstGeom>
        </p:spPr>
        <p:txBody>
          <a:bodyPr wrap="square" lIns="0" tIns="0" rIns="0" bIns="0" rtlCol="0" anchor="t">
            <a:spAutoFit/>
          </a:bodyPr>
          <a:lstStyle/>
          <a:p>
            <a:pPr algn="ctr">
              <a:lnSpc>
                <a:spcPts val="10296"/>
              </a:lnSpc>
              <a:spcBef>
                <a:spcPct val="0"/>
              </a:spcBef>
            </a:pPr>
            <a:r>
              <a:rPr lang="en-US" sz="44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PROPOSED SYSTEM</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id="6" name="TextBox 5">
            <a:extLst>
              <a:ext uri="{FF2B5EF4-FFF2-40B4-BE49-F238E27FC236}">
                <a16:creationId xmlns:a16="http://schemas.microsoft.com/office/drawing/2014/main" id="{125F7828-757A-E828-650F-E1565CEA1DD7}"/>
              </a:ext>
            </a:extLst>
          </p:cNvPr>
          <p:cNvSpPr txBox="1"/>
          <p:nvPr/>
        </p:nvSpPr>
        <p:spPr>
          <a:xfrm>
            <a:off x="2590799" y="1790700"/>
            <a:ext cx="13944601" cy="7770845"/>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an advanced and automated framework for detecting phishing and web application vulnerabilities using behavioral cues in browser interaction.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system works by continuously monitoring web applications, collecting data such as user inputs, URLs, cookies, and server responses.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then analyzes this data to identify unusual patterns or behaviors that may indicate potential security threats.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Unlike traditional methods, the proposed system is capable of detecting both known and unknown (zero-day) vulnerabilities</a:t>
            </a:r>
            <a:r>
              <a:rPr lang="en-US" sz="2800" dirty="0"/>
              <a:t>.</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performs real-time testing on live applications and provides detailed reports with severity levels and suggested fixes.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By integrating continuous security testing into the development process, the system ensures early detection and quick resolution of vulnerabilities.</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90999" y="1943100"/>
            <a:ext cx="11201401" cy="3800528"/>
          </a:xfrm>
          <a:prstGeom prst="rect">
            <a:avLst/>
          </a:prstGeom>
        </p:spPr>
        <p:txBody>
          <a:bodyPr wrap="square" lIns="0" tIns="0" rIns="0" bIns="0" rtlCol="0" anchor="t">
            <a:spAutoFit/>
          </a:bodyPr>
          <a:lstStyle/>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Automated vulnerability detection reduces manual effort.</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Detects both known and unknown (zero-day) attacks .</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Real-time monitoring and continuous security testing.</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Uses machine learning for better accuracy and smart analysis.</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Faster identification and fixing of vulnerabilities.</a:t>
            </a:r>
          </a:p>
          <a:p>
            <a:pPr marL="457200" lvl="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Improves overall system reliability and data protection.</a:t>
            </a:r>
          </a:p>
        </p:txBody>
      </p:sp>
      <p:sp>
        <p:nvSpPr>
          <p:cNvPr id="3" name="TextBox 3"/>
          <p:cNvSpPr txBox="1"/>
          <p:nvPr/>
        </p:nvSpPr>
        <p:spPr>
          <a:xfrm>
            <a:off x="2151028" y="183889"/>
            <a:ext cx="15108272" cy="1122936"/>
          </a:xfrm>
          <a:prstGeom prst="rect">
            <a:avLst/>
          </a:prstGeom>
        </p:spPr>
        <p:txBody>
          <a:bodyPr lIns="0" tIns="0" rIns="0" bIns="0" rtlCol="0" anchor="t">
            <a:spAutoFit/>
          </a:bodyPr>
          <a:lstStyle/>
          <a:p>
            <a:pPr algn="ctr">
              <a:lnSpc>
                <a:spcPts val="10296"/>
              </a:lnSpc>
              <a:spcBef>
                <a:spcPct val="0"/>
              </a:spcBef>
            </a:pPr>
            <a:r>
              <a:rPr lang="en-US" sz="44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ADVANTAGES OF PROPOSED SYSTEM</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00600" y="2476500"/>
            <a:ext cx="11887200" cy="3800528"/>
          </a:xfrm>
          <a:prstGeom prst="rect">
            <a:avLst/>
          </a:prstGeom>
        </p:spPr>
        <p:txBody>
          <a:bodyPr wrap="square" lIns="0" tIns="0" rIns="0" bIns="0" rtlCol="0" anchor="t">
            <a:spAutoFit/>
          </a:bodyPr>
          <a:lstStyle/>
          <a:p>
            <a:pPr marL="627155" lvl="1" indent="-313577" algn="just">
              <a:lnSpc>
                <a:spcPct val="150000"/>
              </a:lnSpc>
              <a:buFont typeface="Arial"/>
              <a:buChar char="•"/>
            </a:pPr>
            <a:r>
              <a:rPr lang="en-IN" sz="2800" dirty="0">
                <a:latin typeface="Times New Roman" panose="02020603050405020304" pitchFamily="18" charset="0"/>
                <a:cs typeface="Times New Roman" panose="02020603050405020304" pitchFamily="18" charset="0"/>
              </a:rPr>
              <a:t>Programming Language: Python</a:t>
            </a:r>
            <a:endParaRPr lang="en-US" sz="2800" dirty="0">
              <a:solidFill>
                <a:srgbClr val="000000"/>
              </a:solidFill>
              <a:latin typeface="Times New Roman" panose="02020603050405020304" pitchFamily="18" charset="0"/>
              <a:ea typeface="Fira Sans"/>
              <a:cs typeface="Times New Roman" panose="02020603050405020304" pitchFamily="18" charset="0"/>
              <a:sym typeface="Fira Sans"/>
            </a:endParaRPr>
          </a:p>
          <a:p>
            <a:pPr marL="627155" lvl="1" indent="-313577" algn="just">
              <a:lnSpc>
                <a:spcPct val="150000"/>
              </a:lnSpc>
              <a:buFont typeface="Arial"/>
              <a:buChar char="•"/>
            </a:pPr>
            <a:r>
              <a:rPr lang="en-IN" sz="2800" dirty="0">
                <a:latin typeface="Times New Roman" panose="02020603050405020304" pitchFamily="18" charset="0"/>
                <a:cs typeface="Times New Roman" panose="02020603050405020304" pitchFamily="18" charset="0"/>
              </a:rPr>
              <a:t>Database: MySQL </a:t>
            </a:r>
          </a:p>
          <a:p>
            <a:pPr marL="627155" lvl="1" indent="-313577" algn="just">
              <a:lnSpc>
                <a:spcPct val="150000"/>
              </a:lnSpc>
              <a:buFont typeface="Arial"/>
              <a:buChar char="•"/>
            </a:pPr>
            <a:r>
              <a:rPr lang="en-IN" sz="2800" dirty="0">
                <a:latin typeface="Times New Roman" panose="02020603050405020304" pitchFamily="18" charset="0"/>
                <a:cs typeface="Times New Roman" panose="02020603050405020304" pitchFamily="18" charset="0"/>
              </a:rPr>
              <a:t>Web Framework: Flask </a:t>
            </a:r>
          </a:p>
          <a:p>
            <a:pPr marL="627155" lvl="1" indent="-313577" algn="just">
              <a:lnSpc>
                <a:spcPct val="150000"/>
              </a:lnSpc>
              <a:buFont typeface="Arial"/>
              <a:buChar char="•"/>
            </a:pPr>
            <a:r>
              <a:rPr lang="en-IN" sz="2800" dirty="0">
                <a:latin typeface="Times New Roman" panose="02020603050405020304" pitchFamily="18" charset="0"/>
                <a:cs typeface="Times New Roman" panose="02020603050405020304" pitchFamily="18" charset="0"/>
              </a:rPr>
              <a:t>Web Server: Flask Server </a:t>
            </a:r>
          </a:p>
          <a:p>
            <a:pPr marL="627155" lvl="1" indent="-313577" algn="just">
              <a:lnSpc>
                <a:spcPct val="150000"/>
              </a:lnSpc>
              <a:buFont typeface="Arial"/>
              <a:buChar char="•"/>
            </a:pPr>
            <a:r>
              <a:rPr lang="en-IN" sz="2800" dirty="0">
                <a:latin typeface="Times New Roman" panose="02020603050405020304" pitchFamily="18" charset="0"/>
                <a:cs typeface="Times New Roman" panose="02020603050405020304" pitchFamily="18" charset="0"/>
              </a:rPr>
              <a:t>Database Connectivity: Native Connectivity</a:t>
            </a:r>
          </a:p>
          <a:p>
            <a:pPr marL="627155" lvl="1" indent="-313577" algn="just">
              <a:lnSpc>
                <a:spcPct val="150000"/>
              </a:lnSpc>
              <a:buFont typeface="Arial"/>
              <a:buChar char="•"/>
            </a:pPr>
            <a:r>
              <a:rPr lang="en-IN" sz="2800" dirty="0">
                <a:latin typeface="Times New Roman" panose="02020603050405020304" pitchFamily="18" charset="0"/>
                <a:cs typeface="Times New Roman" panose="02020603050405020304" pitchFamily="18" charset="0"/>
              </a:rPr>
              <a:t>Browser (Client &amp; Server): Google Chrome</a:t>
            </a:r>
            <a:endParaRPr lang="en-US" sz="2800" dirty="0">
              <a:solidFill>
                <a:srgbClr val="000000"/>
              </a:solidFill>
              <a:latin typeface="Times New Roman" panose="02020603050405020304" pitchFamily="18" charset="0"/>
              <a:ea typeface="Fira Sans"/>
              <a:cs typeface="Times New Roman" panose="02020603050405020304" pitchFamily="18" charset="0"/>
              <a:sym typeface="Fira Sans"/>
            </a:endParaRPr>
          </a:p>
        </p:txBody>
      </p:sp>
      <p:sp>
        <p:nvSpPr>
          <p:cNvPr id="3" name="TextBox 3"/>
          <p:cNvSpPr txBox="1"/>
          <p:nvPr/>
        </p:nvSpPr>
        <p:spPr>
          <a:xfrm>
            <a:off x="3047999" y="419100"/>
            <a:ext cx="12061653" cy="1122936"/>
          </a:xfrm>
          <a:prstGeom prst="rect">
            <a:avLst/>
          </a:prstGeom>
        </p:spPr>
        <p:txBody>
          <a:bodyPr wrap="square" lIns="0" tIns="0" rIns="0" bIns="0" rtlCol="0" anchor="t">
            <a:spAutoFit/>
          </a:bodyPr>
          <a:lstStyle/>
          <a:p>
            <a:pPr algn="ctr">
              <a:lnSpc>
                <a:spcPts val="10296"/>
              </a:lnSpc>
              <a:spcBef>
                <a:spcPct val="0"/>
              </a:spcBef>
            </a:pPr>
            <a:r>
              <a:rPr lang="en-US" sz="44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SOFTWARE  REQUIREMENTS</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09999" y="183889"/>
            <a:ext cx="13068002" cy="1122936"/>
          </a:xfrm>
          <a:prstGeom prst="rect">
            <a:avLst/>
          </a:prstGeom>
        </p:spPr>
        <p:txBody>
          <a:bodyPr lIns="0" tIns="0" rIns="0" bIns="0" rtlCol="0" anchor="t">
            <a:spAutoFit/>
          </a:bodyPr>
          <a:lstStyle/>
          <a:p>
            <a:pPr algn="ctr">
              <a:lnSpc>
                <a:spcPts val="10296"/>
              </a:lnSpc>
              <a:spcBef>
                <a:spcPct val="0"/>
              </a:spcBef>
            </a:pPr>
            <a:r>
              <a:rPr lang="en-US" sz="44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SYSTEM ARCHITECTURE</a:t>
            </a:r>
          </a:p>
        </p:txBody>
      </p:sp>
      <p:sp>
        <p:nvSpPr>
          <p:cNvPr id="13" name="Freeform 13"/>
          <p:cNvSpPr/>
          <p:nvPr/>
        </p:nvSpPr>
        <p:spPr>
          <a:xfrm rot="-5400000">
            <a:off x="8216197" y="2246080"/>
            <a:ext cx="392131" cy="89210"/>
          </a:xfrm>
          <a:custGeom>
            <a:avLst/>
            <a:gdLst/>
            <a:ahLst/>
            <a:cxnLst/>
            <a:rect l="l" t="t" r="r" b="b"/>
            <a:pathLst>
              <a:path w="392131" h="89210">
                <a:moveTo>
                  <a:pt x="0" y="0"/>
                </a:moveTo>
                <a:lnTo>
                  <a:pt x="392130" y="0"/>
                </a:lnTo>
                <a:lnTo>
                  <a:pt x="392130" y="89209"/>
                </a:lnTo>
                <a:lnTo>
                  <a:pt x="0" y="892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 name="Freeform 14"/>
          <p:cNvSpPr/>
          <p:nvPr/>
        </p:nvSpPr>
        <p:spPr>
          <a:xfrm rot="-5400000">
            <a:off x="8212711" y="3033115"/>
            <a:ext cx="392131" cy="89210"/>
          </a:xfrm>
          <a:custGeom>
            <a:avLst/>
            <a:gdLst/>
            <a:ahLst/>
            <a:cxnLst/>
            <a:rect l="l" t="t" r="r" b="b"/>
            <a:pathLst>
              <a:path w="392131" h="89210">
                <a:moveTo>
                  <a:pt x="0" y="0"/>
                </a:moveTo>
                <a:lnTo>
                  <a:pt x="392131" y="0"/>
                </a:lnTo>
                <a:lnTo>
                  <a:pt x="392131" y="89209"/>
                </a:lnTo>
                <a:lnTo>
                  <a:pt x="0" y="892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 name="Freeform 15"/>
          <p:cNvSpPr/>
          <p:nvPr/>
        </p:nvSpPr>
        <p:spPr>
          <a:xfrm rot="-5400000">
            <a:off x="8209226" y="3820150"/>
            <a:ext cx="392131" cy="89210"/>
          </a:xfrm>
          <a:custGeom>
            <a:avLst/>
            <a:gdLst/>
            <a:ahLst/>
            <a:cxnLst/>
            <a:rect l="l" t="t" r="r" b="b"/>
            <a:pathLst>
              <a:path w="392131" h="89210">
                <a:moveTo>
                  <a:pt x="0" y="0"/>
                </a:moveTo>
                <a:lnTo>
                  <a:pt x="392131" y="0"/>
                </a:lnTo>
                <a:lnTo>
                  <a:pt x="392131" y="89209"/>
                </a:lnTo>
                <a:lnTo>
                  <a:pt x="0" y="892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rot="-5400000">
            <a:off x="8209226" y="4683258"/>
            <a:ext cx="392131" cy="89210"/>
          </a:xfrm>
          <a:custGeom>
            <a:avLst/>
            <a:gdLst/>
            <a:ahLst/>
            <a:cxnLst/>
            <a:rect l="l" t="t" r="r" b="b"/>
            <a:pathLst>
              <a:path w="392131" h="89210">
                <a:moveTo>
                  <a:pt x="0" y="0"/>
                </a:moveTo>
                <a:lnTo>
                  <a:pt x="392131" y="0"/>
                </a:lnTo>
                <a:lnTo>
                  <a:pt x="392131" y="89210"/>
                </a:lnTo>
                <a:lnTo>
                  <a:pt x="0" y="892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8" name="Freeform 18"/>
          <p:cNvSpPr/>
          <p:nvPr/>
        </p:nvSpPr>
        <p:spPr>
          <a:xfrm rot="-5400000">
            <a:off x="8212711" y="5723089"/>
            <a:ext cx="392131" cy="89210"/>
          </a:xfrm>
          <a:custGeom>
            <a:avLst/>
            <a:gdLst/>
            <a:ahLst/>
            <a:cxnLst/>
            <a:rect l="l" t="t" r="r" b="b"/>
            <a:pathLst>
              <a:path w="392131" h="89210">
                <a:moveTo>
                  <a:pt x="0" y="0"/>
                </a:moveTo>
                <a:lnTo>
                  <a:pt x="392131" y="0"/>
                </a:lnTo>
                <a:lnTo>
                  <a:pt x="392131" y="89210"/>
                </a:lnTo>
                <a:lnTo>
                  <a:pt x="0" y="892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4" name="TextBox 4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pic>
        <p:nvPicPr>
          <p:cNvPr id="50" name="Picture 49">
            <a:extLst>
              <a:ext uri="{FF2B5EF4-FFF2-40B4-BE49-F238E27FC236}">
                <a16:creationId xmlns:a16="http://schemas.microsoft.com/office/drawing/2014/main" id="{28334461-5601-12B0-E62A-9A8FB1AA148D}"/>
              </a:ext>
            </a:extLst>
          </p:cNvPr>
          <p:cNvPicPr>
            <a:picLocks noChangeAspect="1"/>
          </p:cNvPicPr>
          <p:nvPr/>
        </p:nvPicPr>
        <p:blipFill>
          <a:blip r:embed="rId4">
            <a:extLst>
              <a:ext uri="{28A0092B-C50C-407E-A947-70E740481C1C}">
                <a14:useLocalDpi xmlns:a14="http://schemas.microsoft.com/office/drawing/2010/main" val="0"/>
              </a:ext>
            </a:extLst>
          </a:blip>
          <a:srcRect t="9231"/>
          <a:stretch>
            <a:fillRect/>
          </a:stretch>
        </p:blipFill>
        <p:spPr>
          <a:xfrm>
            <a:off x="5181600" y="1664226"/>
            <a:ext cx="7162800" cy="7746474"/>
          </a:xfrm>
          <a:prstGeom prst="rect">
            <a:avLst/>
          </a:prstGeom>
        </p:spPr>
      </p:pic>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09999" y="572446"/>
            <a:ext cx="13068002" cy="1122936"/>
          </a:xfrm>
          <a:prstGeom prst="rect">
            <a:avLst/>
          </a:prstGeom>
        </p:spPr>
        <p:txBody>
          <a:bodyPr lIns="0" tIns="0" rIns="0" bIns="0" rtlCol="0" anchor="t">
            <a:spAutoFit/>
          </a:bodyPr>
          <a:lstStyle/>
          <a:p>
            <a:pPr algn="ctr">
              <a:lnSpc>
                <a:spcPts val="10296"/>
              </a:lnSpc>
              <a:spcBef>
                <a:spcPct val="0"/>
              </a:spcBef>
            </a:pPr>
            <a:r>
              <a:rPr lang="en-US" sz="4400" b="1" dirty="0">
                <a:solidFill>
                  <a:srgbClr val="000000"/>
                </a:solidFill>
                <a:latin typeface="Times New Roman" panose="02020603050405020304" pitchFamily="18" charset="0"/>
                <a:ea typeface="Alegreya Sans SC Bold"/>
                <a:cs typeface="Times New Roman" panose="02020603050405020304" pitchFamily="18" charset="0"/>
                <a:sym typeface="Alegreya Sans SC Bold"/>
              </a:rPr>
              <a:t>FUTURE  PLANNING</a:t>
            </a:r>
          </a:p>
        </p:txBody>
      </p:sp>
      <p:sp>
        <p:nvSpPr>
          <p:cNvPr id="3" name="TextBox 3"/>
          <p:cNvSpPr txBox="1"/>
          <p:nvPr/>
        </p:nvSpPr>
        <p:spPr>
          <a:xfrm>
            <a:off x="4267200" y="2247900"/>
            <a:ext cx="11839501" cy="6385851"/>
          </a:xfrm>
          <a:prstGeom prst="rect">
            <a:avLst/>
          </a:prstGeom>
        </p:spPr>
        <p:txBody>
          <a:bodyPr wrap="square" lIns="0" tIns="0" rIns="0" bIns="0" rtlCol="0" anchor="t">
            <a:spAutoFit/>
          </a:bodyPr>
          <a:lstStyle/>
          <a:p>
            <a:pPr marL="627155" lvl="1" indent="-313577" algn="just">
              <a:lnSpc>
                <a:spcPct val="150000"/>
              </a:lnSpc>
              <a:buFont typeface="Arial"/>
              <a:buChar char="•"/>
            </a:pPr>
            <a:r>
              <a:rPr lang="en-US" sz="2800" dirty="0">
                <a:latin typeface="Times New Roman" panose="02020603050405020304" pitchFamily="18" charset="0"/>
                <a:cs typeface="Times New Roman" panose="02020603050405020304" pitchFamily="18" charset="0"/>
              </a:rPr>
              <a:t>Integration of advanced Artificial Intelligence and Deep Learning models to improve detection of unknown and sophisticated phishing attacks.</a:t>
            </a:r>
          </a:p>
          <a:p>
            <a:pPr marL="627155" lvl="1" indent="-313577" algn="just">
              <a:lnSpc>
                <a:spcPct val="150000"/>
              </a:lnSpc>
              <a:buFont typeface="Arial"/>
              <a:buChar char="•"/>
            </a:pPr>
            <a:r>
              <a:rPr lang="en-US" sz="2800" dirty="0">
                <a:latin typeface="Times New Roman" panose="02020603050405020304" pitchFamily="18" charset="0"/>
                <a:cs typeface="Times New Roman" panose="02020603050405020304" pitchFamily="18" charset="0"/>
              </a:rPr>
              <a:t>Implementation of real-time monitoring systems for continuous security analysis.</a:t>
            </a:r>
          </a:p>
          <a:p>
            <a:pPr marL="627155" lvl="1" indent="-313577" algn="just">
              <a:lnSpc>
                <a:spcPct val="150000"/>
              </a:lnSpc>
              <a:buFont typeface="Arial"/>
              <a:buChar char="•"/>
            </a:pPr>
            <a:r>
              <a:rPr lang="en-US" sz="2800" dirty="0">
                <a:latin typeface="Times New Roman" panose="02020603050405020304" pitchFamily="18" charset="0"/>
                <a:cs typeface="Times New Roman" panose="02020603050405020304" pitchFamily="18" charset="0"/>
              </a:rPr>
              <a:t>Extension of the system to support cloud-based applications and mobile platforms.</a:t>
            </a:r>
          </a:p>
          <a:p>
            <a:pPr marL="627155" lvl="1" indent="-313577" algn="just">
              <a:lnSpc>
                <a:spcPct val="150000"/>
              </a:lnSpc>
              <a:buFont typeface="Arial"/>
              <a:buChar char="•"/>
            </a:pPr>
            <a:r>
              <a:rPr lang="en-US" sz="2800" dirty="0">
                <a:latin typeface="Times New Roman" panose="02020603050405020304" pitchFamily="18" charset="0"/>
                <a:cs typeface="Times New Roman" panose="02020603050405020304" pitchFamily="18" charset="0"/>
              </a:rPr>
              <a:t>Development of a user-friendly dashboard with advanced visualization and analytics.</a:t>
            </a:r>
          </a:p>
          <a:p>
            <a:pPr marL="627155" lvl="1" indent="-313577" algn="just">
              <a:lnSpc>
                <a:spcPct val="150000"/>
              </a:lnSpc>
              <a:buFont typeface="Arial"/>
              <a:buChar char="•"/>
            </a:pPr>
            <a:r>
              <a:rPr lang="en-US" sz="2800" dirty="0">
                <a:latin typeface="Times New Roman" panose="02020603050405020304" pitchFamily="18" charset="0"/>
                <a:cs typeface="Times New Roman" panose="02020603050405020304" pitchFamily="18" charset="0"/>
              </a:rPr>
              <a:t>Deployment as a browser extension for direct user protection during browsing.</a:t>
            </a:r>
          </a:p>
          <a:p>
            <a:pPr marL="627155" lvl="1" indent="-313577" algn="just">
              <a:lnSpc>
                <a:spcPct val="150000"/>
              </a:lnSpc>
              <a:buFont typeface="Arial"/>
              <a:buChar char="•"/>
            </a:pPr>
            <a:endParaRPr lang="en-US" sz="2800" dirty="0">
              <a:solidFill>
                <a:srgbClr val="000000"/>
              </a:solidFill>
              <a:latin typeface="Times New Roman" panose="02020603050405020304" pitchFamily="18" charset="0"/>
              <a:ea typeface="Fira Sans"/>
              <a:cs typeface="Times New Roman" panose="02020603050405020304" pitchFamily="18" charset="0"/>
              <a:sym typeface="Fira Sans"/>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43838" y="178753"/>
            <a:ext cx="4833761" cy="1209498"/>
          </a:xfrm>
          <a:prstGeom prst="rect">
            <a:avLst/>
          </a:prstGeom>
        </p:spPr>
        <p:txBody>
          <a:bodyPr wrap="square" lIns="0" tIns="0" rIns="0" bIns="0" rtlCol="0" anchor="t">
            <a:spAutoFit/>
          </a:bodyPr>
          <a:lstStyle/>
          <a:p>
            <a:pPr algn="ctr">
              <a:lnSpc>
                <a:spcPts val="11200"/>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MODULES</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id="29" name="TextBox 28">
            <a:extLst>
              <a:ext uri="{FF2B5EF4-FFF2-40B4-BE49-F238E27FC236}">
                <a16:creationId xmlns:a16="http://schemas.microsoft.com/office/drawing/2014/main" id="{DF544F85-1C7E-369B-618F-5C9A8A050BDD}"/>
              </a:ext>
            </a:extLst>
          </p:cNvPr>
          <p:cNvSpPr txBox="1"/>
          <p:nvPr/>
        </p:nvSpPr>
        <p:spPr>
          <a:xfrm>
            <a:off x="4076700" y="1790700"/>
            <a:ext cx="13182600" cy="8710077"/>
          </a:xfrm>
          <a:prstGeom prst="rect">
            <a:avLst/>
          </a:prstGeom>
          <a:noFill/>
        </p:spPr>
        <p:txBody>
          <a:bodyPr wrap="square">
            <a:spAutoFit/>
          </a:bodyPr>
          <a:lstStyle/>
          <a:p>
            <a:pPr marL="514350" indent="-514350">
              <a:lnSpc>
                <a:spcPct val="150000"/>
              </a:lnSpc>
              <a:buFont typeface="+mj-lt"/>
              <a:buAutoNum type="arabicPeriod"/>
            </a:pPr>
            <a:r>
              <a:rPr lang="en-IN" sz="2800" b="1" dirty="0">
                <a:latin typeface="Times New Roman" panose="02020603050405020304" pitchFamily="18" charset="0"/>
                <a:cs typeface="Times New Roman" panose="02020603050405020304" pitchFamily="18" charset="0"/>
              </a:rPr>
              <a:t>Data Collection &amp; Crawling Module</a:t>
            </a:r>
          </a:p>
          <a:p>
            <a:pPr algn="just">
              <a:lnSpc>
                <a:spcPct val="150000"/>
              </a:lnSpc>
            </a:pPr>
            <a:r>
              <a:rPr lang="en-IN"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This module collects input data from web applications such as URLs, web pages, forms, cookies, and headers. It performs web crawling to explore all pages and gather necessary information for analysis.</a:t>
            </a:r>
          </a:p>
          <a:p>
            <a:pPr algn="just">
              <a:lnSpc>
                <a:spcPct val="150000"/>
              </a:lnSpc>
            </a:pPr>
            <a:r>
              <a:rPr lang="en-US" sz="2800" b="1" dirty="0">
                <a:latin typeface="Times New Roman" panose="02020603050405020304" pitchFamily="18" charset="0"/>
                <a:cs typeface="Times New Roman" panose="02020603050405020304" pitchFamily="18" charset="0"/>
              </a:rPr>
              <a:t>2.   </a:t>
            </a:r>
            <a:r>
              <a:rPr lang="en-IN" sz="2800" b="1" dirty="0">
                <a:latin typeface="Times New Roman" panose="02020603050405020304" pitchFamily="18" charset="0"/>
                <a:cs typeface="Times New Roman" panose="02020603050405020304" pitchFamily="18" charset="0"/>
              </a:rPr>
              <a:t>Data Preprocessing Module</a:t>
            </a:r>
          </a:p>
          <a:p>
            <a:pPr algn="just">
              <a:lnSpc>
                <a:spcPct val="150000"/>
              </a:lnSpc>
            </a:pPr>
            <a:r>
              <a:rPr lang="en-US" sz="2800" dirty="0">
                <a:latin typeface="Times New Roman" panose="02020603050405020304" pitchFamily="18" charset="0"/>
                <a:cs typeface="Times New Roman" panose="02020603050405020304" pitchFamily="18" charset="0"/>
              </a:rPr>
              <a:t>This module cleans and prepares the collected data. It removes duplicate values, handles missing data, and normalizes the dataset to make it suitable for further processing.</a:t>
            </a:r>
          </a:p>
          <a:p>
            <a:pPr algn="just">
              <a:lnSpc>
                <a:spcPct val="150000"/>
              </a:lnSpc>
            </a:pPr>
            <a:r>
              <a:rPr lang="en-IN" sz="2800" b="1" dirty="0">
                <a:latin typeface="Times New Roman" panose="02020603050405020304" pitchFamily="18" charset="0"/>
                <a:cs typeface="Times New Roman" panose="02020603050405020304" pitchFamily="18" charset="0"/>
              </a:rPr>
              <a:t>3.   Feature Extraction Module</a:t>
            </a:r>
          </a:p>
          <a:p>
            <a:pPr algn="just">
              <a:lnSpc>
                <a:spcPct val="150000"/>
              </a:lnSpc>
            </a:pPr>
            <a:r>
              <a:rPr lang="en-US" sz="2800" dirty="0">
                <a:latin typeface="Times New Roman" panose="02020603050405020304" pitchFamily="18" charset="0"/>
                <a:cs typeface="Times New Roman" panose="02020603050405020304" pitchFamily="18" charset="0"/>
              </a:rPr>
              <a:t>This module extracts important features from the data such as URL characteristics, domain details, content features, and user behavioral cues. These features are used for detecting phishing patterns.</a:t>
            </a:r>
          </a:p>
          <a:p>
            <a:pPr algn="just">
              <a:lnSpc>
                <a:spcPct val="150000"/>
              </a:lnSpc>
            </a:pPr>
            <a:endParaRPr lang="en-IN" sz="2800" dirty="0"/>
          </a:p>
          <a:p>
            <a:pPr algn="just"/>
            <a:endParaRPr lang="en-US" sz="2800" dirty="0">
              <a:latin typeface="Times New Roman" panose="02020603050405020304" pitchFamily="18" charset="0"/>
              <a:cs typeface="Times New Roman" panose="02020603050405020304" pitchFamily="18" charset="0"/>
            </a:endParaRPr>
          </a:p>
          <a:p>
            <a:pPr algn="just"/>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43838" y="178753"/>
            <a:ext cx="4528961" cy="1209498"/>
          </a:xfrm>
          <a:prstGeom prst="rect">
            <a:avLst/>
          </a:prstGeom>
        </p:spPr>
        <p:txBody>
          <a:bodyPr wrap="square" lIns="0" tIns="0" rIns="0" bIns="0" rtlCol="0" anchor="t">
            <a:spAutoFit/>
          </a:bodyPr>
          <a:lstStyle/>
          <a:p>
            <a:pPr algn="ctr">
              <a:lnSpc>
                <a:spcPts val="11200"/>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MODULES</a:t>
            </a:r>
          </a:p>
        </p:txBody>
      </p:sp>
      <p:sp>
        <p:nvSpPr>
          <p:cNvPr id="3" name="TextBox 3"/>
          <p:cNvSpPr txBox="1"/>
          <p:nvPr/>
        </p:nvSpPr>
        <p:spPr>
          <a:xfrm>
            <a:off x="2895600" y="1943099"/>
            <a:ext cx="13792200" cy="7678512"/>
          </a:xfrm>
          <a:prstGeom prst="rect">
            <a:avLst/>
          </a:prstGeom>
        </p:spPr>
        <p:txBody>
          <a:bodyPr wrap="square" lIns="0" tIns="0" rIns="0" bIns="0" rtlCol="0" anchor="t">
            <a:spAutoFit/>
          </a:bodyPr>
          <a:lstStyle/>
          <a:p>
            <a:pPr>
              <a:lnSpc>
                <a:spcPct val="150000"/>
              </a:lnSpc>
            </a:pPr>
            <a:r>
              <a:rPr lang="en-IN" sz="2800" b="1" dirty="0">
                <a:latin typeface="Times New Roman" panose="02020603050405020304" pitchFamily="18" charset="0"/>
                <a:cs typeface="Times New Roman" panose="02020603050405020304" pitchFamily="18" charset="0"/>
              </a:rPr>
              <a:t>4. Model Building Module </a:t>
            </a:r>
          </a:p>
          <a:p>
            <a:pPr>
              <a:lnSpc>
                <a:spcPct val="150000"/>
              </a:lnSpc>
            </a:pPr>
            <a:r>
              <a:rPr lang="en-US" sz="2800" dirty="0">
                <a:latin typeface="Times New Roman" panose="02020603050405020304" pitchFamily="18" charset="0"/>
                <a:cs typeface="Times New Roman" panose="02020603050405020304" pitchFamily="18" charset="0"/>
              </a:rPr>
              <a:t>               This module focuses on selecting and training machine learning algorithms. It uses the extracted features to build a predictive model. The model is trained using datasets and validated for performance. </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algn="just">
              <a:lnSpc>
                <a:spcPct val="150000"/>
              </a:lnSpc>
            </a:pPr>
            <a:r>
              <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rPr>
              <a:t>5. </a:t>
            </a:r>
            <a:r>
              <a:rPr lang="en-IN" sz="2800" b="1" dirty="0">
                <a:latin typeface="Times New Roman" panose="02020603050405020304" pitchFamily="18" charset="0"/>
                <a:cs typeface="Times New Roman" panose="02020603050405020304" pitchFamily="18" charset="0"/>
              </a:rPr>
              <a:t>Detection Module</a:t>
            </a:r>
            <a:endPar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endParaRPr>
          </a:p>
          <a:p>
            <a:pPr algn="just">
              <a:lnSpc>
                <a:spcPct val="150000"/>
              </a:lnSpc>
            </a:pPr>
            <a:r>
              <a:rPr lang="en-US" sz="2800" b="1" dirty="0">
                <a:solidFill>
                  <a:srgbClr val="000000"/>
                </a:solidFill>
                <a:latin typeface="Times New Roman" panose="02020603050405020304" pitchFamily="18" charset="0"/>
                <a:cs typeface="Times New Roman" panose="02020603050405020304" pitchFamily="18" charset="0"/>
                <a:sym typeface="Canva Sans Bold"/>
              </a:rPr>
              <a:t>              </a:t>
            </a:r>
            <a:r>
              <a:rPr lang="en-US" sz="2800" dirty="0">
                <a:latin typeface="Times New Roman" panose="02020603050405020304" pitchFamily="18" charset="0"/>
                <a:cs typeface="Times New Roman" panose="02020603050405020304" pitchFamily="18" charset="0"/>
              </a:rPr>
              <a:t>This module analyzes incoming data using the trained model. It checks for abnormal patterns and suspicious behavior. The system compares current data with learned patterns. It helps in identifying potential phishing attacks. This module acts as the core detection engine.</a:t>
            </a:r>
          </a:p>
          <a:p>
            <a:pPr algn="just">
              <a:lnSpc>
                <a:spcPct val="150000"/>
              </a:lnSpc>
            </a:pPr>
            <a:r>
              <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rPr>
              <a:t>6. </a:t>
            </a:r>
            <a:r>
              <a:rPr lang="en-IN" sz="2800" b="1" dirty="0">
                <a:latin typeface="Times New Roman" panose="02020603050405020304" pitchFamily="18" charset="0"/>
                <a:cs typeface="Times New Roman" panose="02020603050405020304" pitchFamily="18" charset="0"/>
              </a:rPr>
              <a:t>Prediction Module</a:t>
            </a:r>
          </a:p>
          <a:p>
            <a:pPr algn="just">
              <a:lnSpc>
                <a:spcPct val="150000"/>
              </a:lnSpc>
            </a:pPr>
            <a:r>
              <a:rPr lang="en-US" sz="2800" dirty="0">
                <a:latin typeface="Times New Roman" panose="02020603050405020304" pitchFamily="18" charset="0"/>
                <a:cs typeface="Times New Roman" panose="02020603050405020304" pitchFamily="18" charset="0"/>
              </a:rPr>
              <a:t>               This module classifies the website as phishing or legitimate. It uses the results from the detection module. A risk score is calculated based on the level of threat. The output is generated in an understandable format. This helps users make informed decisions.</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84020" y="112078"/>
            <a:ext cx="13284579" cy="1209498"/>
          </a:xfrm>
          <a:prstGeom prst="rect">
            <a:avLst/>
          </a:prstGeom>
        </p:spPr>
        <p:txBody>
          <a:bodyPr wrap="square" lIns="0" tIns="0" rIns="0" bIns="0" rtlCol="0" anchor="t">
            <a:spAutoFit/>
          </a:bodyPr>
          <a:lstStyle/>
          <a:p>
            <a:pPr algn="ctr">
              <a:lnSpc>
                <a:spcPts val="11200"/>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DETAILS ABOUT THE DATASET</a:t>
            </a:r>
          </a:p>
        </p:txBody>
      </p:sp>
      <p:sp>
        <p:nvSpPr>
          <p:cNvPr id="3" name="TextBox 3"/>
          <p:cNvSpPr txBox="1"/>
          <p:nvPr/>
        </p:nvSpPr>
        <p:spPr>
          <a:xfrm>
            <a:off x="3352800" y="1866900"/>
            <a:ext cx="13906500" cy="6046335"/>
          </a:xfrm>
          <a:prstGeom prst="rect">
            <a:avLst/>
          </a:prstGeom>
        </p:spPr>
        <p:txBody>
          <a:bodyPr wrap="square" lIns="0" tIns="0" rIns="0" bIns="0" rtlCol="0" anchor="t">
            <a:spAutoFit/>
          </a:bodyPr>
          <a:lstStyle/>
          <a:p>
            <a:pPr algn="just">
              <a:lnSpc>
                <a:spcPts val="3983"/>
              </a:lnSpc>
            </a:pPr>
            <a:r>
              <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rPr>
              <a:t>Dataset Name: </a:t>
            </a:r>
            <a:r>
              <a:rPr lang="en-IN" sz="2800" dirty="0">
                <a:latin typeface="Times New Roman" panose="02020603050405020304" pitchFamily="18" charset="0"/>
                <a:cs typeface="Times New Roman" panose="02020603050405020304" pitchFamily="18" charset="0"/>
              </a:rPr>
              <a:t>Phishing Detection Dataset</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algn="just">
              <a:lnSpc>
                <a:spcPts val="3983"/>
              </a:lnSpc>
            </a:pPr>
            <a:r>
              <a:rPr lang="en-US" sz="2845" dirty="0">
                <a:solidFill>
                  <a:srgbClr val="000000"/>
                </a:solidFill>
                <a:latin typeface="Times New Roman" panose="02020603050405020304" pitchFamily="18" charset="0"/>
                <a:ea typeface="Canva Sans"/>
                <a:cs typeface="Times New Roman" panose="02020603050405020304" pitchFamily="18" charset="0"/>
                <a:sym typeface="Canva Sans"/>
              </a:rPr>
              <a:t>Description:</a:t>
            </a:r>
          </a:p>
          <a:p>
            <a:r>
              <a:rPr lang="en-US" sz="2845" dirty="0">
                <a:solidFill>
                  <a:srgbClr val="000000"/>
                </a:solidFill>
                <a:latin typeface="Canva Sans"/>
                <a:ea typeface="Canva Sans"/>
                <a:cs typeface="Canva Sans"/>
                <a:sym typeface="Canva Sans"/>
              </a:rPr>
              <a:t> </a:t>
            </a:r>
            <a:r>
              <a:rPr lang="en-US" sz="2800" dirty="0">
                <a:latin typeface="Times New Roman" panose="02020603050405020304" pitchFamily="18" charset="0"/>
                <a:cs typeface="Times New Roman" panose="02020603050405020304" pitchFamily="18" charset="0"/>
              </a:rPr>
              <a:t>The dataset helps in identifying suspicious patterns and detecting malicious activities.</a:t>
            </a:r>
          </a:p>
          <a:p>
            <a:pPr algn="just">
              <a:lnSpc>
                <a:spcPts val="3983"/>
              </a:lnSpc>
            </a:pP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 It includes information about:</a:t>
            </a:r>
          </a:p>
          <a:p>
            <a:pPr marL="764358" lvl="1" indent="-457200" algn="just">
              <a:lnSpc>
                <a:spcPts val="3983"/>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URL details (length, domain, special characters)</a:t>
            </a: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Date of observation</a:t>
            </a:r>
          </a:p>
          <a:p>
            <a:pPr marL="764358" lvl="1" indent="-457200" algn="just">
              <a:lnSpc>
                <a:spcPts val="3983"/>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Webpage content features (scripts, forms, links)</a:t>
            </a: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 </a:t>
            </a:r>
          </a:p>
          <a:p>
            <a:pPr marL="764358" lvl="1" indent="-457200" algn="just">
              <a:lnSpc>
                <a:spcPts val="3983"/>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interaction data (clicks, typing, navigation, scroll</a:t>
            </a:r>
          </a:p>
          <a:p>
            <a:pPr marL="307158" lvl="1" algn="just">
              <a:lnSpc>
                <a:spcPts val="3983"/>
              </a:lnSpc>
            </a:pP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Type of Data:</a:t>
            </a:r>
          </a:p>
          <a:p>
            <a:pPr marL="614317" lvl="1" indent="-307159" algn="just">
              <a:lnSpc>
                <a:spcPts val="3983"/>
              </a:lnSpc>
              <a:buFont typeface="Arial"/>
              <a:buChar char="•"/>
            </a:pPr>
            <a:r>
              <a:rPr lang="en-US" sz="2800" dirty="0">
                <a:latin typeface="Times New Roman" panose="02020603050405020304" pitchFamily="18" charset="0"/>
                <a:cs typeface="Times New Roman" panose="02020603050405020304" pitchFamily="18" charset="0"/>
              </a:rPr>
              <a:t>Numerical → URL length, number of links, response time, feature values</a:t>
            </a:r>
          </a:p>
          <a:p>
            <a:pPr marL="614317" lvl="1" indent="-307159" algn="just">
              <a:lnSpc>
                <a:spcPts val="3983"/>
              </a:lnSpc>
              <a:buFont typeface="Arial"/>
              <a:buChar char="•"/>
            </a:pPr>
            <a:r>
              <a:rPr lang="en-US" sz="2800" dirty="0">
                <a:latin typeface="Times New Roman" panose="02020603050405020304" pitchFamily="18" charset="0"/>
                <a:cs typeface="Times New Roman" panose="02020603050405020304" pitchFamily="18" charset="0"/>
              </a:rPr>
              <a:t>Behavioral → User actions like clicks, typing speed, navigation pattern</a:t>
            </a:r>
          </a:p>
          <a:p>
            <a:pPr marL="614317" lvl="1" indent="-307159" algn="just">
              <a:lnSpc>
                <a:spcPts val="3983"/>
              </a:lnSpc>
              <a:buFont typeface="Arial"/>
              <a:buChar char="•"/>
            </a:pPr>
            <a:r>
              <a:rPr lang="en-US" sz="2800" dirty="0">
                <a:latin typeface="Times New Roman" panose="02020603050405020304" pitchFamily="18" charset="0"/>
                <a:cs typeface="Times New Roman" panose="02020603050405020304" pitchFamily="18" charset="0"/>
              </a:rPr>
              <a:t>Temporal → Time-based user interaction data </a:t>
            </a:r>
          </a:p>
          <a:p>
            <a:pPr algn="just">
              <a:lnSpc>
                <a:spcPts val="3983"/>
              </a:lnSpc>
            </a:pPr>
            <a:endParaRPr lang="en-US" sz="2845" dirty="0">
              <a:solidFill>
                <a:srgbClr val="000000"/>
              </a:solidFill>
              <a:latin typeface="Canva Sans"/>
              <a:ea typeface="Canva Sans"/>
              <a:cs typeface="Canva Sans"/>
              <a:sym typeface="Canva Sans"/>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028700" y="494587"/>
            <a:ext cx="1625816" cy="534113"/>
          </a:xfrm>
          <a:prstGeom prst="rect">
            <a:avLst/>
          </a:prstGeom>
        </p:spPr>
        <p:txBody>
          <a:bodyPr lIns="0" tIns="0" rIns="0" bIns="0" rtlCol="0" anchor="t">
            <a:spAutoFit/>
          </a:bodyPr>
          <a:lstStyle/>
          <a:p>
            <a:pPr algn="ctr">
              <a:lnSpc>
                <a:spcPts val="4385"/>
              </a:lnSpc>
            </a:pPr>
            <a:r>
              <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rPr>
              <a:t>Dataset</a:t>
            </a:r>
            <a:r>
              <a:rPr lang="en-US" sz="3132" b="1" dirty="0">
                <a:solidFill>
                  <a:srgbClr val="000000"/>
                </a:solidFill>
                <a:latin typeface="Canva Sans Bold"/>
                <a:ea typeface="Canva Sans Bold"/>
                <a:cs typeface="Canva Sans Bold"/>
                <a:sym typeface="Canva Sans Bold"/>
              </a:rPr>
              <a:t>:</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pic>
        <p:nvPicPr>
          <p:cNvPr id="6" name="Picture 5">
            <a:extLst>
              <a:ext uri="{FF2B5EF4-FFF2-40B4-BE49-F238E27FC236}">
                <a16:creationId xmlns:a16="http://schemas.microsoft.com/office/drawing/2014/main" id="{DAC385B0-4A07-5906-3186-4F915D453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1" y="1252538"/>
            <a:ext cx="15045266" cy="8462962"/>
          </a:xfrm>
          <a:prstGeom prst="rect">
            <a:avLst/>
          </a:prstGeom>
        </p:spPr>
      </p:pic>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1600" y="904875"/>
            <a:ext cx="16459200" cy="1007520"/>
          </a:xfrm>
          <a:prstGeom prst="rect">
            <a:avLst/>
          </a:prstGeom>
        </p:spPr>
        <p:txBody>
          <a:bodyPr wrap="square" lIns="0" tIns="0" rIns="0" bIns="0" rtlCol="0" anchor="t">
            <a:spAutoFit/>
          </a:bodyPr>
          <a:lstStyle/>
          <a:p>
            <a:pPr algn="ctr">
              <a:lnSpc>
                <a:spcPts val="9100"/>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WHERE IT IS COLLECTED </a:t>
            </a:r>
          </a:p>
        </p:txBody>
      </p:sp>
      <p:sp>
        <p:nvSpPr>
          <p:cNvPr id="3" name="TextBox 3"/>
          <p:cNvSpPr txBox="1"/>
          <p:nvPr/>
        </p:nvSpPr>
        <p:spPr>
          <a:xfrm>
            <a:off x="3429000" y="2476500"/>
            <a:ext cx="12192000" cy="4931606"/>
          </a:xfrm>
          <a:prstGeom prst="rect">
            <a:avLst/>
          </a:prstGeom>
        </p:spPr>
        <p:txBody>
          <a:bodyPr wrap="square" lIns="0" tIns="0" rIns="0" bIns="0" rtlCol="0" anchor="t">
            <a:spAutoFit/>
          </a:bodyPr>
          <a:lstStyle/>
          <a:p>
            <a:pPr marL="764359" lvl="1" indent="-457200" algn="just">
              <a:lnSpc>
                <a:spcPts val="5605"/>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collected from web applications and browser interactions across different websites.</a:t>
            </a:r>
          </a:p>
          <a:p>
            <a:pPr marL="764359" lvl="1" indent="-457200" algn="just">
              <a:lnSpc>
                <a:spcPts val="5605"/>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behavior is captured through browser activities such as clicks, typing, navigation, and form submissions.</a:t>
            </a:r>
          </a:p>
          <a:p>
            <a:pPr marL="764359" lvl="1" indent="-457200" algn="just">
              <a:lnSpc>
                <a:spcPts val="5605"/>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is gathered using automated tools and scripts for analysis.</a:t>
            </a:r>
          </a:p>
          <a:p>
            <a:pPr marL="764359" lvl="1" indent="-457200" algn="just">
              <a:lnSpc>
                <a:spcPts val="5605"/>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Public datasets and simulated environments are also used for research and testing purposes.</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45946" y="904875"/>
            <a:ext cx="12365454" cy="1007520"/>
          </a:xfrm>
          <a:prstGeom prst="rect">
            <a:avLst/>
          </a:prstGeom>
        </p:spPr>
        <p:txBody>
          <a:bodyPr wrap="square" lIns="0" tIns="0" rIns="0" bIns="0" rtlCol="0" anchor="t">
            <a:spAutoFit/>
          </a:bodyPr>
          <a:lstStyle/>
          <a:p>
            <a:pPr algn="ctr">
              <a:lnSpc>
                <a:spcPts val="9100"/>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WHY THIS  DATASET WAS CHOSEN</a:t>
            </a:r>
          </a:p>
        </p:txBody>
      </p:sp>
      <p:sp>
        <p:nvSpPr>
          <p:cNvPr id="3" name="TextBox 3"/>
          <p:cNvSpPr txBox="1"/>
          <p:nvPr/>
        </p:nvSpPr>
        <p:spPr>
          <a:xfrm>
            <a:off x="3429000" y="2476500"/>
            <a:ext cx="13965360" cy="6488025"/>
          </a:xfrm>
          <a:prstGeom prst="rect">
            <a:avLst/>
          </a:prstGeom>
        </p:spPr>
        <p:txBody>
          <a:bodyPr wrap="square" lIns="0" tIns="0" rIns="0" bIns="0" rtlCol="0" anchor="t">
            <a:spAutoFit/>
          </a:bodyPr>
          <a:lstStyle/>
          <a:p>
            <a:pPr marL="614318" lvl="1" indent="-307159" algn="just">
              <a:lnSpc>
                <a:spcPct val="150000"/>
              </a:lnSpc>
              <a:buFont typeface="Arial"/>
              <a:buChar char="•"/>
            </a:pPr>
            <a:r>
              <a:rPr lang="en-US" sz="2800" dirty="0">
                <a:latin typeface="Times New Roman" panose="02020603050405020304" pitchFamily="18" charset="0"/>
                <a:cs typeface="Times New Roman" panose="02020603050405020304" pitchFamily="18" charset="0"/>
              </a:rPr>
              <a:t>Phishing attacks are a major cybersecurity threat affecting users and organizations.</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marL="614318" lvl="1" indent="-307159" algn="just">
              <a:lnSpc>
                <a:spcPct val="150000"/>
              </a:lnSpc>
              <a:buFont typeface="Arial"/>
              <a:buChar char="•"/>
            </a:pPr>
            <a:r>
              <a:rPr lang="en-US" sz="2800" dirty="0">
                <a:latin typeface="Times New Roman" panose="02020603050405020304" pitchFamily="18" charset="0"/>
                <a:cs typeface="Times New Roman" panose="02020603050405020304" pitchFamily="18" charset="0"/>
              </a:rPr>
              <a:t>Helps analyze user behavior and website patterns to detect malicious activities.</a:t>
            </a: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a:t>
            </a:r>
          </a:p>
          <a:p>
            <a:pPr marL="614318" lvl="1" indent="-307159" algn="just">
              <a:lnSpc>
                <a:spcPct val="150000"/>
              </a:lnSpc>
              <a:buFont typeface="Arial"/>
              <a:buChar char="•"/>
            </a:pPr>
            <a:r>
              <a:rPr lang="en-US" sz="2800" dirty="0">
                <a:latin typeface="Times New Roman" panose="02020603050405020304" pitchFamily="18" charset="0"/>
                <a:cs typeface="Times New Roman" panose="02020603050405020304" pitchFamily="18" charset="0"/>
              </a:rPr>
              <a:t>Suitable for Machine Learning and Cybersecurity projects.</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marL="614318" lvl="1" indent="-307159" algn="just">
              <a:lnSpc>
                <a:spcPct val="150000"/>
              </a:lnSpc>
              <a:buFont typeface="Arial"/>
              <a:buChar char="•"/>
            </a:pPr>
            <a:r>
              <a:rPr lang="en-US" sz="2800" dirty="0">
                <a:latin typeface="Times New Roman" panose="02020603050405020304" pitchFamily="18" charset="0"/>
                <a:cs typeface="Times New Roman" panose="02020603050405020304" pitchFamily="18" charset="0"/>
              </a:rPr>
              <a:t>Contains real-world data like URLs, user interactions, and web features useful for preprocessing and analysis.</a:t>
            </a:r>
          </a:p>
          <a:p>
            <a:pPr marL="307159" lvl="1" algn="just">
              <a:lnSpc>
                <a:spcPct val="150000"/>
              </a:lnSpc>
            </a:pP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Can be used for:</a:t>
            </a:r>
          </a:p>
          <a:p>
            <a:pPr marL="614318" lvl="1" indent="-307159" algn="just">
              <a:lnSpc>
                <a:spcPct val="150000"/>
              </a:lnSpc>
              <a:buFont typeface="Arial"/>
              <a:buChar char="•"/>
            </a:pPr>
            <a:r>
              <a:rPr lang="en-IN" sz="2800" dirty="0">
                <a:latin typeface="Times New Roman" panose="02020603050405020304" pitchFamily="18" charset="0"/>
                <a:cs typeface="Times New Roman" panose="02020603050405020304" pitchFamily="18" charset="0"/>
              </a:rPr>
              <a:t>Phishing website detection</a:t>
            </a:r>
          </a:p>
          <a:p>
            <a:pPr marL="614318" lvl="1" indent="-307159" algn="just">
              <a:lnSpc>
                <a:spcPct val="150000"/>
              </a:lnSpc>
              <a:buFont typeface="Arial"/>
              <a:buChar char="•"/>
            </a:pPr>
            <a:r>
              <a:rPr lang="en-IN" sz="2800" dirty="0">
                <a:latin typeface="Times New Roman" panose="02020603050405020304" pitchFamily="18" charset="0"/>
                <a:cs typeface="Times New Roman" panose="02020603050405020304" pitchFamily="18" charset="0"/>
              </a:rPr>
              <a:t>Risk score prediction</a:t>
            </a:r>
          </a:p>
          <a:p>
            <a:pPr marL="614318" lvl="1" indent="-307159" algn="just">
              <a:lnSpc>
                <a:spcPct val="150000"/>
              </a:lnSpc>
              <a:buFont typeface="Arial"/>
              <a:buChar char="•"/>
            </a:pPr>
            <a:r>
              <a:rPr lang="en-IN" sz="2800" dirty="0">
                <a:latin typeface="Times New Roman" panose="02020603050405020304" pitchFamily="18" charset="0"/>
                <a:cs typeface="Times New Roman" panose="02020603050405020304" pitchFamily="18" charset="0"/>
              </a:rPr>
              <a:t>User </a:t>
            </a:r>
            <a:r>
              <a:rPr lang="en-IN" sz="2800" dirty="0" err="1">
                <a:latin typeface="Times New Roman" panose="02020603050405020304" pitchFamily="18" charset="0"/>
                <a:cs typeface="Times New Roman" panose="02020603050405020304" pitchFamily="18" charset="0"/>
              </a:rPr>
              <a:t>behavior</a:t>
            </a:r>
            <a:r>
              <a:rPr lang="en-IN" sz="2800" dirty="0">
                <a:latin typeface="Times New Roman" panose="02020603050405020304" pitchFamily="18" charset="0"/>
                <a:cs typeface="Times New Roman" panose="02020603050405020304" pitchFamily="18" charset="0"/>
              </a:rPr>
              <a:t> analysis</a:t>
            </a:r>
          </a:p>
          <a:p>
            <a:pPr algn="just">
              <a:lnSpc>
                <a:spcPts val="5121"/>
              </a:lnSpc>
            </a:pPr>
            <a:endParaRPr lang="en-US" sz="2845" dirty="0">
              <a:solidFill>
                <a:srgbClr val="000000"/>
              </a:solidFill>
              <a:latin typeface="Canva Sans"/>
              <a:ea typeface="Canva Sans"/>
              <a:cs typeface="Canva Sans"/>
              <a:sym typeface="Canva Sans"/>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id="5" name="Rectangle 1">
            <a:extLst>
              <a:ext uri="{FF2B5EF4-FFF2-40B4-BE49-F238E27FC236}">
                <a16:creationId xmlns:a16="http://schemas.microsoft.com/office/drawing/2014/main" id="{FD899BE7-5AE6-EFDF-2DE8-5A027D635FE9}"/>
              </a:ext>
            </a:extLst>
          </p:cNvPr>
          <p:cNvSpPr>
            <a:spLocks noChangeArrowheads="1"/>
          </p:cNvSpPr>
          <p:nvPr/>
        </p:nvSpPr>
        <p:spPr bwMode="auto">
          <a:xfrm>
            <a:off x="0" y="-184666"/>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393352" y="-100382"/>
            <a:ext cx="8865448" cy="1074846"/>
          </a:xfrm>
          <a:prstGeom prst="rect">
            <a:avLst/>
          </a:prstGeom>
        </p:spPr>
        <p:txBody>
          <a:bodyPr wrap="square" lIns="0" tIns="0" rIns="0" bIns="0" rtlCol="0" anchor="t">
            <a:spAutoFit/>
          </a:bodyPr>
          <a:lstStyle/>
          <a:p>
            <a:pPr algn="ctr">
              <a:lnSpc>
                <a:spcPts val="9800"/>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DATA  PREPROCESSING</a:t>
            </a:r>
          </a:p>
        </p:txBody>
      </p:sp>
      <p:sp>
        <p:nvSpPr>
          <p:cNvPr id="3" name="TextBox 3"/>
          <p:cNvSpPr txBox="1"/>
          <p:nvPr/>
        </p:nvSpPr>
        <p:spPr>
          <a:xfrm>
            <a:off x="3962400" y="3172384"/>
            <a:ext cx="13296900" cy="5085495"/>
          </a:xfrm>
          <a:prstGeom prst="rect">
            <a:avLst/>
          </a:prstGeom>
        </p:spPr>
        <p:txBody>
          <a:bodyPr wrap="square" lIns="0" tIns="0" rIns="0" bIns="0" rtlCol="0" anchor="t">
            <a:spAutoFit/>
          </a:bodyPr>
          <a:lstStyle/>
          <a:p>
            <a:pPr marL="614318" lvl="1" indent="-307159" algn="just">
              <a:lnSpc>
                <a:spcPts val="3983"/>
              </a:lnSpc>
              <a:buFont typeface="Arial"/>
              <a:buChar char="•"/>
            </a:pPr>
            <a:r>
              <a:rPr lang="en-US" sz="2800" dirty="0">
                <a:latin typeface="Times New Roman" panose="02020603050405020304" pitchFamily="18" charset="0"/>
                <a:cs typeface="Times New Roman" panose="02020603050405020304" pitchFamily="18" charset="0"/>
              </a:rPr>
              <a:t>Data Preprocessing is the process of cleaning and transforming raw web and user interaction data into a usable format for machine learning and analysis.</a:t>
            </a:r>
          </a:p>
          <a:p>
            <a:pPr marL="307159" lvl="1" algn="just">
              <a:lnSpc>
                <a:spcPts val="3983"/>
              </a:lnSpc>
            </a:pP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It includes:</a:t>
            </a:r>
          </a:p>
          <a:p>
            <a:pPr marL="614318" lvl="1" indent="-307159" algn="just">
              <a:lnSpc>
                <a:spcPts val="3983"/>
              </a:lnSpc>
              <a:buFont typeface="Arial"/>
              <a:buChar char="•"/>
            </a:pPr>
            <a:r>
              <a:rPr lang="en-US" sz="2800" dirty="0">
                <a:latin typeface="Times New Roman" panose="02020603050405020304" pitchFamily="18" charset="0"/>
                <a:cs typeface="Times New Roman" panose="02020603050405020304" pitchFamily="18" charset="0"/>
              </a:rPr>
              <a:t>Removing duplicate URLs and repeated records</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marL="614318" lvl="1" indent="-307159" algn="just">
              <a:lnSpc>
                <a:spcPts val="3983"/>
              </a:lnSpc>
              <a:buFont typeface="Arial"/>
              <a:buChar char="•"/>
            </a:pPr>
            <a:r>
              <a:rPr lang="en-US" sz="2800" dirty="0">
                <a:latin typeface="Times New Roman" panose="02020603050405020304" pitchFamily="18" charset="0"/>
                <a:cs typeface="Times New Roman" panose="02020603050405020304" pitchFamily="18" charset="0"/>
              </a:rPr>
              <a:t>Cleaning and normalizing URL strings and text data</a:t>
            </a:r>
          </a:p>
          <a:p>
            <a:pPr marL="614318" lvl="1" indent="-307159" algn="just">
              <a:lnSpc>
                <a:spcPts val="3983"/>
              </a:lnSpc>
              <a:buFont typeface="Arial"/>
              <a:buChar char="•"/>
            </a:pPr>
            <a:r>
              <a:rPr lang="en-US" sz="2800" dirty="0">
                <a:latin typeface="Times New Roman" panose="02020603050405020304" pitchFamily="18" charset="0"/>
                <a:cs typeface="Times New Roman" panose="02020603050405020304" pitchFamily="18" charset="0"/>
              </a:rPr>
              <a:t>Encoding categorical data (Phishing / Legitimate labels)</a:t>
            </a:r>
          </a:p>
          <a:p>
            <a:pPr marL="614318" lvl="1" indent="-307159" algn="just">
              <a:lnSpc>
                <a:spcPts val="3983"/>
              </a:lnSpc>
              <a:buFont typeface="Arial"/>
              <a:buChar char="•"/>
            </a:pPr>
            <a:r>
              <a:rPr lang="en-US" sz="2800" dirty="0">
                <a:latin typeface="Times New Roman" panose="02020603050405020304" pitchFamily="18" charset="0"/>
                <a:cs typeface="Times New Roman" panose="02020603050405020304" pitchFamily="18" charset="0"/>
              </a:rPr>
              <a:t>Feature scaling for numerical values (e.g., URL length, response time)</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algn="just">
              <a:lnSpc>
                <a:spcPts val="3983"/>
              </a:lnSpc>
            </a:pP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algn="just">
              <a:lnSpc>
                <a:spcPts val="3983"/>
              </a:lnSpc>
            </a:pP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 </a:t>
            </a:r>
            <a:r>
              <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rPr>
              <a:t>Goal:</a:t>
            </a:r>
            <a:r>
              <a:rPr lang="en-US" sz="2800" dirty="0">
                <a:solidFill>
                  <a:srgbClr val="000000"/>
                </a:solidFill>
                <a:latin typeface="Times New Roman" panose="02020603050405020304" pitchFamily="18" charset="0"/>
                <a:ea typeface="Canva Sans"/>
                <a:cs typeface="Times New Roman" panose="02020603050405020304" pitchFamily="18" charset="0"/>
                <a:sym typeface="Canva Sans"/>
              </a:rPr>
              <a:t> </a:t>
            </a:r>
            <a:r>
              <a:rPr lang="en-US" sz="2800" dirty="0">
                <a:latin typeface="Times New Roman" panose="02020603050405020304" pitchFamily="18" charset="0"/>
                <a:cs typeface="Times New Roman" panose="02020603050405020304" pitchFamily="18" charset="0"/>
              </a:rPr>
              <a:t>Improve data quality, enhance model accuracy, and ensure better phishing detection performance.</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
        <p:nvSpPr>
          <p:cNvPr id="4" name="TextBox 4"/>
          <p:cNvSpPr txBox="1"/>
          <p:nvPr/>
        </p:nvSpPr>
        <p:spPr>
          <a:xfrm>
            <a:off x="2900188" y="1569664"/>
            <a:ext cx="11882611" cy="1007520"/>
          </a:xfrm>
          <a:prstGeom prst="rect">
            <a:avLst/>
          </a:prstGeom>
        </p:spPr>
        <p:txBody>
          <a:bodyPr wrap="square" lIns="0" tIns="0" rIns="0" bIns="0" rtlCol="0" anchor="t">
            <a:spAutoFit/>
          </a:bodyPr>
          <a:lstStyle/>
          <a:p>
            <a:pPr algn="ctr">
              <a:lnSpc>
                <a:spcPts val="9100"/>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What Is Data Preprocessing?</a:t>
            </a: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28700" y="3142301"/>
            <a:ext cx="13090773" cy="1589025"/>
          </a:xfrm>
          <a:prstGeom prst="rect">
            <a:avLst/>
          </a:prstGeom>
        </p:spPr>
        <p:txBody>
          <a:bodyPr lIns="0" tIns="0" rIns="0" bIns="0" rtlCol="0" anchor="t">
            <a:spAutoFit/>
          </a:bodyPr>
          <a:lstStyle/>
          <a:p>
            <a:pPr marL="647702" lvl="1" indent="-323851" algn="just">
              <a:lnSpc>
                <a:spcPts val="4200"/>
              </a:lnSpc>
              <a:buFont typeface="Arial"/>
              <a:buChar char="•"/>
            </a:pPr>
            <a:r>
              <a:rPr lang="en-US" sz="2800" dirty="0">
                <a:latin typeface="Times New Roman" panose="02020603050405020304" pitchFamily="18" charset="0"/>
                <a:cs typeface="Times New Roman" panose="02020603050405020304" pitchFamily="18" charset="0"/>
              </a:rPr>
              <a:t>Imports </a:t>
            </a:r>
            <a:r>
              <a:rPr lang="en-US" sz="2800" b="1" dirty="0">
                <a:latin typeface="Times New Roman" panose="02020603050405020304" pitchFamily="18" charset="0"/>
                <a:cs typeface="Times New Roman" panose="02020603050405020304" pitchFamily="18" charset="0"/>
              </a:rPr>
              <a:t>pandas and </a:t>
            </a:r>
            <a:r>
              <a:rPr lang="en-US" sz="2800" b="1" dirty="0" err="1">
                <a:latin typeface="Times New Roman" panose="02020603050405020304" pitchFamily="18" charset="0"/>
                <a:cs typeface="Times New Roman" panose="02020603050405020304" pitchFamily="18" charset="0"/>
              </a:rPr>
              <a:t>numpy</a:t>
            </a:r>
            <a:r>
              <a:rPr lang="en-US" sz="2800" dirty="0">
                <a:latin typeface="Times New Roman" panose="02020603050405020304" pitchFamily="18" charset="0"/>
                <a:cs typeface="Times New Roman" panose="02020603050405020304" pitchFamily="18" charset="0"/>
              </a:rPr>
              <a:t> for data handling and numerical operations</a:t>
            </a:r>
          </a:p>
          <a:p>
            <a:pPr marL="647702" lvl="1" indent="-323851" algn="just">
              <a:lnSpc>
                <a:spcPts val="4200"/>
              </a:lnSpc>
              <a:buFont typeface="Arial"/>
              <a:buChar char="•"/>
            </a:pPr>
            <a:r>
              <a:rPr lang="en-US" sz="2800" dirty="0">
                <a:latin typeface="Times New Roman" panose="02020603050405020304" pitchFamily="18" charset="0"/>
                <a:cs typeface="Times New Roman" panose="02020603050405020304" pitchFamily="18" charset="0"/>
              </a:rPr>
              <a:t>Uses </a:t>
            </a:r>
            <a:r>
              <a:rPr lang="en-US" sz="2800" b="1" dirty="0" err="1">
                <a:latin typeface="Times New Roman" panose="02020603050405020304" pitchFamily="18" charset="0"/>
                <a:cs typeface="Times New Roman" panose="02020603050405020304" pitchFamily="18" charset="0"/>
              </a:rPr>
              <a:t>train_test_split</a:t>
            </a:r>
            <a:r>
              <a:rPr lang="en-US" sz="2800" dirty="0">
                <a:latin typeface="Times New Roman" panose="02020603050405020304" pitchFamily="18" charset="0"/>
                <a:cs typeface="Times New Roman" panose="02020603050405020304" pitchFamily="18" charset="0"/>
              </a:rPr>
              <a:t> to divide data into training and testing sets</a:t>
            </a:r>
          </a:p>
          <a:p>
            <a:pPr marL="647702" lvl="1" indent="-323851" algn="just">
              <a:lnSpc>
                <a:spcPts val="4200"/>
              </a:lnSpc>
              <a:buFont typeface="Arial"/>
              <a:buChar char="•"/>
            </a:pPr>
            <a:r>
              <a:rPr lang="en-US" sz="2800" dirty="0">
                <a:latin typeface="Times New Roman" panose="02020603050405020304" pitchFamily="18" charset="0"/>
                <a:cs typeface="Times New Roman" panose="02020603050405020304" pitchFamily="18" charset="0"/>
              </a:rPr>
              <a:t>Applies </a:t>
            </a:r>
            <a:r>
              <a:rPr lang="en-US" sz="2800" b="1" dirty="0">
                <a:latin typeface="Times New Roman" panose="02020603050405020304" pitchFamily="18" charset="0"/>
                <a:cs typeface="Times New Roman" panose="02020603050405020304" pitchFamily="18" charset="0"/>
              </a:rPr>
              <a:t>Random Forest Classifier</a:t>
            </a:r>
            <a:r>
              <a:rPr lang="en-US" sz="2800" dirty="0">
                <a:latin typeface="Times New Roman" panose="02020603050405020304" pitchFamily="18" charset="0"/>
                <a:cs typeface="Times New Roman" panose="02020603050405020304" pitchFamily="18" charset="0"/>
              </a:rPr>
              <a:t> for building the machine learning model</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
        <p:nvSpPr>
          <p:cNvPr id="7" name="TextBox 7"/>
          <p:cNvSpPr txBox="1"/>
          <p:nvPr/>
        </p:nvSpPr>
        <p:spPr>
          <a:xfrm>
            <a:off x="1028700" y="8199755"/>
            <a:ext cx="13090773" cy="2077300"/>
          </a:xfrm>
          <a:prstGeom prst="rect">
            <a:avLst/>
          </a:prstGeom>
        </p:spPr>
        <p:txBody>
          <a:bodyPr lIns="0" tIns="0" rIns="0" bIns="0" rtlCol="0" anchor="t">
            <a:spAutoFit/>
          </a:bodyPr>
          <a:lstStyle/>
          <a:p>
            <a:pPr marL="770256" lvl="1" indent="-457200" algn="just">
              <a:lnSpc>
                <a:spcPts val="406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phishing detection dataset is loaded from a CSV file</a:t>
            </a:r>
          </a:p>
          <a:p>
            <a:pPr marL="770256" lvl="1" indent="-457200" algn="just">
              <a:lnSpc>
                <a:spcPts val="406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pandas and </a:t>
            </a:r>
            <a:r>
              <a:rPr lang="en-US" sz="2800" dirty="0" err="1">
                <a:latin typeface="Times New Roman" panose="02020603050405020304" pitchFamily="18" charset="0"/>
                <a:cs typeface="Times New Roman" panose="02020603050405020304" pitchFamily="18" charset="0"/>
              </a:rPr>
              <a:t>numpy</a:t>
            </a:r>
            <a:r>
              <a:rPr lang="en-US" sz="2800" dirty="0">
                <a:latin typeface="Times New Roman" panose="02020603050405020304" pitchFamily="18" charset="0"/>
                <a:cs typeface="Times New Roman" panose="02020603050405020304" pitchFamily="18" charset="0"/>
              </a:rPr>
              <a:t> are used for data handling and calculations</a:t>
            </a:r>
          </a:p>
          <a:p>
            <a:pPr marL="770256" lvl="1" indent="-457200" algn="just">
              <a:lnSpc>
                <a:spcPts val="406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isnull</a:t>
            </a:r>
            <a:r>
              <a:rPr lang="en-US" sz="2800" dirty="0">
                <a:latin typeface="Times New Roman" panose="02020603050405020304" pitchFamily="18" charset="0"/>
                <a:cs typeface="Times New Roman" panose="02020603050405020304" pitchFamily="18" charset="0"/>
              </a:rPr>
              <a:t>().sum() is used to find missing values in each column</a:t>
            </a:r>
          </a:p>
          <a:p>
            <a:pPr algn="just">
              <a:lnSpc>
                <a:spcPts val="4200"/>
              </a:lnSpc>
            </a:pPr>
            <a:endParaRPr lang="en-US" sz="2900" dirty="0">
              <a:solidFill>
                <a:srgbClr val="000000"/>
              </a:solidFill>
              <a:latin typeface="Canva Sans"/>
              <a:ea typeface="Canva Sans"/>
              <a:cs typeface="Canva Sans"/>
              <a:sym typeface="Canva Sans"/>
            </a:endParaRPr>
          </a:p>
        </p:txBody>
      </p:sp>
      <p:sp>
        <p:nvSpPr>
          <p:cNvPr id="8" name="TextBox 8"/>
          <p:cNvSpPr txBox="1"/>
          <p:nvPr/>
        </p:nvSpPr>
        <p:spPr>
          <a:xfrm>
            <a:off x="1237783" y="540863"/>
            <a:ext cx="5496560" cy="762000"/>
          </a:xfrm>
          <a:prstGeom prst="rect">
            <a:avLst/>
          </a:prstGeom>
        </p:spPr>
        <p:txBody>
          <a:bodyPr lIns="0" tIns="0" rIns="0" bIns="0" rtlCol="0" anchor="t">
            <a:spAutoFit/>
          </a:bodyPr>
          <a:lstStyle/>
          <a:p>
            <a:pPr algn="ctr">
              <a:lnSpc>
                <a:spcPts val="6299"/>
              </a:lnSpc>
            </a:pPr>
            <a:r>
              <a:rPr lang="en-US" sz="4500" b="1" dirty="0">
                <a:solidFill>
                  <a:srgbClr val="000000"/>
                </a:solidFill>
                <a:latin typeface="Canva Sans Bold"/>
                <a:ea typeface="Canva Sans Bold"/>
                <a:cs typeface="Canva Sans Bold"/>
                <a:sym typeface="Canva Sans Bold"/>
              </a:rPr>
              <a:t> </a:t>
            </a: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Importing Libraries</a:t>
            </a:r>
          </a:p>
        </p:txBody>
      </p:sp>
      <p:sp>
        <p:nvSpPr>
          <p:cNvPr id="9" name="TextBox 9"/>
          <p:cNvSpPr txBox="1"/>
          <p:nvPr/>
        </p:nvSpPr>
        <p:spPr>
          <a:xfrm>
            <a:off x="1237783" y="4828226"/>
            <a:ext cx="5496560" cy="741229"/>
          </a:xfrm>
          <a:prstGeom prst="rect">
            <a:avLst/>
          </a:prstGeom>
        </p:spPr>
        <p:txBody>
          <a:bodyPr lIns="0" tIns="0" rIns="0" bIns="0" rtlCol="0" anchor="t">
            <a:spAutoFit/>
          </a:bodyPr>
          <a:lstStyle/>
          <a:p>
            <a:pPr algn="ctr">
              <a:lnSpc>
                <a:spcPts val="6300"/>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 Importing Libraries</a:t>
            </a: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pic>
        <p:nvPicPr>
          <p:cNvPr id="14" name="Picture 13">
            <a:extLst>
              <a:ext uri="{FF2B5EF4-FFF2-40B4-BE49-F238E27FC236}">
                <a16:creationId xmlns:a16="http://schemas.microsoft.com/office/drawing/2014/main" id="{D32974D7-434E-B732-D23C-DD8B277BBC7A}"/>
              </a:ext>
            </a:extLst>
          </p:cNvPr>
          <p:cNvPicPr>
            <a:picLocks noChangeAspect="1"/>
          </p:cNvPicPr>
          <p:nvPr/>
        </p:nvPicPr>
        <p:blipFill>
          <a:blip r:embed="rId3">
            <a:extLst>
              <a:ext uri="{28A0092B-C50C-407E-A947-70E740481C1C}">
                <a14:useLocalDpi xmlns:a14="http://schemas.microsoft.com/office/drawing/2010/main" val="0"/>
              </a:ext>
            </a:extLst>
          </a:blip>
          <a:srcRect l="6289" t="12840" r="41722" b="73338"/>
          <a:stretch>
            <a:fillRect/>
          </a:stretch>
        </p:blipFill>
        <p:spPr>
          <a:xfrm>
            <a:off x="2057400" y="1491152"/>
            <a:ext cx="8973017" cy="1271305"/>
          </a:xfrm>
          <a:prstGeom prst="rect">
            <a:avLst/>
          </a:prstGeom>
        </p:spPr>
      </p:pic>
      <p:pic>
        <p:nvPicPr>
          <p:cNvPr id="18" name="Picture 17">
            <a:extLst>
              <a:ext uri="{FF2B5EF4-FFF2-40B4-BE49-F238E27FC236}">
                <a16:creationId xmlns:a16="http://schemas.microsoft.com/office/drawing/2014/main" id="{7142A121-0A23-9910-28C4-1ED4D0356EC9}"/>
              </a:ext>
            </a:extLst>
          </p:cNvPr>
          <p:cNvPicPr>
            <a:picLocks noChangeAspect="1"/>
          </p:cNvPicPr>
          <p:nvPr/>
        </p:nvPicPr>
        <p:blipFill>
          <a:blip r:embed="rId4">
            <a:extLst>
              <a:ext uri="{28A0092B-C50C-407E-A947-70E740481C1C}">
                <a14:useLocalDpi xmlns:a14="http://schemas.microsoft.com/office/drawing/2010/main" val="0"/>
              </a:ext>
            </a:extLst>
          </a:blip>
          <a:srcRect l="29167" t="43333" r="12916" b="41220"/>
          <a:stretch>
            <a:fillRect/>
          </a:stretch>
        </p:blipFill>
        <p:spPr>
          <a:xfrm>
            <a:off x="1676400" y="5981700"/>
            <a:ext cx="10591800" cy="1589025"/>
          </a:xfrm>
          <a:prstGeom prst="rect">
            <a:avLst/>
          </a:prstGeom>
        </p:spPr>
      </p:pic>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id="4" name="TextBox 4"/>
          <p:cNvSpPr txBox="1"/>
          <p:nvPr/>
        </p:nvSpPr>
        <p:spPr>
          <a:xfrm>
            <a:off x="5515303" y="226378"/>
            <a:ext cx="7362497" cy="836319"/>
          </a:xfrm>
          <a:prstGeom prst="rect">
            <a:avLst/>
          </a:prstGeom>
        </p:spPr>
        <p:txBody>
          <a:bodyPr wrap="square" lIns="0" tIns="0" rIns="0" bIns="0" rtlCol="0" anchor="t">
            <a:spAutoFit/>
          </a:bodyPr>
          <a:lstStyle/>
          <a:p>
            <a:pPr algn="ctr">
              <a:lnSpc>
                <a:spcPts val="7146"/>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Missing Value Analysis</a:t>
            </a:r>
          </a:p>
        </p:txBody>
      </p:sp>
      <p:sp>
        <p:nvSpPr>
          <p:cNvPr id="5" name="TextBox 5"/>
          <p:cNvSpPr txBox="1"/>
          <p:nvPr/>
        </p:nvSpPr>
        <p:spPr>
          <a:xfrm>
            <a:off x="4168527" y="1487266"/>
            <a:ext cx="12366873" cy="2223814"/>
          </a:xfrm>
          <a:prstGeom prst="rect">
            <a:avLst/>
          </a:prstGeom>
        </p:spPr>
        <p:txBody>
          <a:bodyPr wrap="square" lIns="0" tIns="0" rIns="0" bIns="0" rtlCol="0" anchor="t">
            <a:spAutoFit/>
          </a:bodyPr>
          <a:lstStyle/>
          <a:p>
            <a:pPr marL="647702" lvl="1" indent="-323851" algn="just">
              <a:lnSpc>
                <a:spcPts val="4380"/>
              </a:lnSpc>
              <a:buFont typeface="Arial"/>
              <a:buChar char="•"/>
            </a:pPr>
            <a:r>
              <a:rPr lang="en-US" sz="2800" dirty="0">
                <a:latin typeface="Times New Roman" panose="02020603050405020304" pitchFamily="18" charset="0"/>
                <a:cs typeface="Times New Roman" panose="02020603050405020304" pitchFamily="18" charset="0"/>
              </a:rPr>
              <a:t>Helps understand which features have incomplete data</a:t>
            </a:r>
          </a:p>
          <a:p>
            <a:pPr marL="647702" lvl="1" indent="-323851" algn="just">
              <a:lnSpc>
                <a:spcPts val="4380"/>
              </a:lnSpc>
              <a:buFont typeface="Arial"/>
              <a:buChar char="•"/>
            </a:pPr>
            <a:r>
              <a:rPr lang="en-US" sz="2800" dirty="0">
                <a:latin typeface="Times New Roman" panose="02020603050405020304" pitchFamily="18" charset="0"/>
                <a:cs typeface="Times New Roman" panose="02020603050405020304" pitchFamily="18" charset="0"/>
              </a:rPr>
              <a:t>Missing values can affect model accuracy if not handled</a:t>
            </a:r>
          </a:p>
          <a:p>
            <a:pPr marL="647702" lvl="1" indent="-323851" algn="just">
              <a:lnSpc>
                <a:spcPts val="4380"/>
              </a:lnSpc>
              <a:buFont typeface="Arial"/>
              <a:buChar char="•"/>
            </a:pPr>
            <a:r>
              <a:rPr lang="en-US" sz="2800" dirty="0">
                <a:latin typeface="Times New Roman" panose="02020603050405020304" pitchFamily="18" charset="0"/>
                <a:cs typeface="Times New Roman" panose="02020603050405020304" pitchFamily="18" charset="0"/>
              </a:rPr>
              <a:t>Initial view shows the presence of missing values</a:t>
            </a:r>
          </a:p>
          <a:p>
            <a:pPr marL="647702" lvl="1" indent="-323851" algn="just">
              <a:lnSpc>
                <a:spcPts val="4380"/>
              </a:lnSpc>
              <a:buFont typeface="Arial"/>
              <a:buChar char="•"/>
            </a:pPr>
            <a:r>
              <a:rPr lang="en-US" sz="2800" dirty="0">
                <a:latin typeface="Times New Roman" panose="02020603050405020304" pitchFamily="18" charset="0"/>
                <a:cs typeface="Times New Roman" panose="02020603050405020304" pitchFamily="18" charset="0"/>
              </a:rPr>
              <a:t>Necessary to clean or fill missing data before training the model</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
        <p:nvSpPr>
          <p:cNvPr id="6" name="TextBox 6"/>
          <p:cNvSpPr txBox="1"/>
          <p:nvPr/>
        </p:nvSpPr>
        <p:spPr>
          <a:xfrm>
            <a:off x="4724400" y="4482667"/>
            <a:ext cx="10058400" cy="976165"/>
          </a:xfrm>
          <a:prstGeom prst="rect">
            <a:avLst/>
          </a:prstGeom>
        </p:spPr>
        <p:txBody>
          <a:bodyPr wrap="square" lIns="0" tIns="0" rIns="0" bIns="0" rtlCol="0" anchor="t">
            <a:spAutoFit/>
          </a:bodyPr>
          <a:lstStyle/>
          <a:p>
            <a:pPr algn="ctr">
              <a:lnSpc>
                <a:spcPct val="150000"/>
              </a:lnSpc>
            </a:pPr>
            <a:r>
              <a:rPr lang="en-US" sz="4804" b="1" dirty="0">
                <a:solidFill>
                  <a:srgbClr val="000000"/>
                </a:solidFill>
                <a:latin typeface="Times New Roman" panose="02020603050405020304" pitchFamily="18" charset="0"/>
                <a:ea typeface="Canva Sans Bold"/>
                <a:cs typeface="Times New Roman" panose="02020603050405020304" pitchFamily="18" charset="0"/>
                <a:sym typeface="Canva Sans Bold"/>
              </a:rPr>
              <a:t>Why this step is important</a:t>
            </a:r>
          </a:p>
        </p:txBody>
      </p:sp>
      <p:sp>
        <p:nvSpPr>
          <p:cNvPr id="7" name="TextBox 7"/>
          <p:cNvSpPr txBox="1"/>
          <p:nvPr/>
        </p:nvSpPr>
        <p:spPr>
          <a:xfrm>
            <a:off x="4168527" y="5676900"/>
            <a:ext cx="13408433" cy="1882695"/>
          </a:xfrm>
          <a:prstGeom prst="rect">
            <a:avLst/>
          </a:prstGeom>
        </p:spPr>
        <p:txBody>
          <a:bodyPr wrap="square" lIns="0" tIns="0" rIns="0" bIns="0" rtlCol="0" anchor="t">
            <a:spAutoFit/>
          </a:bodyPr>
          <a:lstStyle/>
          <a:p>
            <a:pPr marL="647702" lvl="1" indent="-323851" algn="just">
              <a:lnSpc>
                <a:spcPts val="5100"/>
              </a:lnSpc>
              <a:buFont typeface="Arial"/>
              <a:buChar char="•"/>
            </a:pPr>
            <a:r>
              <a:rPr lang="en-US" sz="2800" dirty="0">
                <a:latin typeface="Times New Roman" panose="02020603050405020304" pitchFamily="18" charset="0"/>
                <a:cs typeface="Times New Roman" panose="02020603050405020304" pitchFamily="18" charset="0"/>
              </a:rPr>
              <a:t>Missing values are filled using methods like mean, median, or mode</a:t>
            </a:r>
          </a:p>
          <a:p>
            <a:pPr marL="647702" lvl="1" indent="-323851" algn="just">
              <a:lnSpc>
                <a:spcPts val="5100"/>
              </a:lnSpc>
              <a:buFont typeface="Arial"/>
              <a:buChar char="•"/>
            </a:pPr>
            <a:r>
              <a:rPr lang="en-US" sz="2800" dirty="0">
                <a:latin typeface="Times New Roman" panose="02020603050405020304" pitchFamily="18" charset="0"/>
                <a:cs typeface="Times New Roman" panose="02020603050405020304" pitchFamily="18" charset="0"/>
              </a:rPr>
              <a:t>Rows or columns with too many missing values can be remove</a:t>
            </a:r>
          </a:p>
          <a:p>
            <a:pPr marL="647702" lvl="1" indent="-323851" algn="just">
              <a:lnSpc>
                <a:spcPts val="5100"/>
              </a:lnSpc>
              <a:buFont typeface="Arial"/>
              <a:buChar char="•"/>
            </a:pPr>
            <a:r>
              <a:rPr lang="en-US" sz="2800" dirty="0">
                <a:latin typeface="Times New Roman" panose="02020603050405020304" pitchFamily="18" charset="0"/>
                <a:cs typeface="Times New Roman" panose="02020603050405020304" pitchFamily="18" charset="0"/>
              </a:rPr>
              <a:t>Proper handling improves data quality and model accuracy</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
        <p:nvSpPr>
          <p:cNvPr id="6" name="TextBox 6"/>
          <p:cNvSpPr txBox="1"/>
          <p:nvPr/>
        </p:nvSpPr>
        <p:spPr>
          <a:xfrm>
            <a:off x="0" y="542925"/>
            <a:ext cx="15196219" cy="762000"/>
          </a:xfrm>
          <a:prstGeom prst="rect">
            <a:avLst/>
          </a:prstGeom>
        </p:spPr>
        <p:txBody>
          <a:bodyPr lIns="0" tIns="0" rIns="0" bIns="0" rtlCol="0" anchor="t">
            <a:spAutoFit/>
          </a:bodyPr>
          <a:lstStyle/>
          <a:p>
            <a:pPr algn="ctr">
              <a:lnSpc>
                <a:spcPts val="6299"/>
              </a:lnSpc>
            </a:pPr>
            <a:r>
              <a:rPr lang="en-US" sz="4500" b="1" dirty="0">
                <a:solidFill>
                  <a:srgbClr val="000000"/>
                </a:solidFill>
                <a:latin typeface="Canva Sans Bold"/>
                <a:ea typeface="Canva Sans Bold"/>
                <a:cs typeface="Canva Sans Bold"/>
                <a:sym typeface="Canva Sans Bold"/>
              </a:rPr>
              <a:t> </a:t>
            </a: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Dataset’s Shape , Information , Statistical Summary</a:t>
            </a:r>
          </a:p>
        </p:txBody>
      </p:sp>
      <p:pic>
        <p:nvPicPr>
          <p:cNvPr id="9" name="Picture 8">
            <a:extLst>
              <a:ext uri="{FF2B5EF4-FFF2-40B4-BE49-F238E27FC236}">
                <a16:creationId xmlns:a16="http://schemas.microsoft.com/office/drawing/2014/main" id="{713BB5FA-F99D-F085-EBDE-44C3170A3A5A}"/>
              </a:ext>
            </a:extLst>
          </p:cNvPr>
          <p:cNvPicPr>
            <a:picLocks noChangeAspect="1"/>
          </p:cNvPicPr>
          <p:nvPr/>
        </p:nvPicPr>
        <p:blipFill>
          <a:blip r:embed="rId2">
            <a:extLst>
              <a:ext uri="{28A0092B-C50C-407E-A947-70E740481C1C}">
                <a14:useLocalDpi xmlns:a14="http://schemas.microsoft.com/office/drawing/2010/main" val="0"/>
              </a:ext>
            </a:extLst>
          </a:blip>
          <a:srcRect l="32503" t="39259" r="21664" b="38426"/>
          <a:stretch>
            <a:fillRect/>
          </a:stretch>
        </p:blipFill>
        <p:spPr>
          <a:xfrm>
            <a:off x="3886200" y="1714500"/>
            <a:ext cx="8382000" cy="2295525"/>
          </a:xfrm>
          <a:prstGeom prst="rect">
            <a:avLst/>
          </a:prstGeom>
        </p:spPr>
      </p:pic>
      <p:sp>
        <p:nvSpPr>
          <p:cNvPr id="11" name="TextBox 10">
            <a:extLst>
              <a:ext uri="{FF2B5EF4-FFF2-40B4-BE49-F238E27FC236}">
                <a16:creationId xmlns:a16="http://schemas.microsoft.com/office/drawing/2014/main" id="{0A467082-B8F8-B971-2251-82458670166C}"/>
              </a:ext>
            </a:extLst>
          </p:cNvPr>
          <p:cNvSpPr txBox="1"/>
          <p:nvPr/>
        </p:nvSpPr>
        <p:spPr>
          <a:xfrm>
            <a:off x="3429000" y="4686300"/>
            <a:ext cx="10287000" cy="389286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data.shape</a:t>
            </a:r>
            <a:r>
              <a:rPr lang="en-US" sz="2800" dirty="0">
                <a:latin typeface="Times New Roman" panose="02020603050405020304" pitchFamily="18" charset="0"/>
                <a:cs typeface="Times New Roman" panose="02020603050405020304" pitchFamily="18" charset="0"/>
              </a:rPr>
              <a:t> shows the number of rows and columns in the dataset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data.info() provides column names, data types, and non-null values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Helps identify missing values and data structure</a:t>
            </a:r>
          </a:p>
          <a:p>
            <a:pPr marL="457200" indent="-457200">
              <a:lnSpc>
                <a:spcPct val="150000"/>
              </a:lnSpc>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data.describe</a:t>
            </a:r>
            <a:r>
              <a:rPr lang="en-US" sz="2800" dirty="0">
                <a:latin typeface="Times New Roman" panose="02020603050405020304" pitchFamily="18" charset="0"/>
                <a:cs typeface="Times New Roman" panose="02020603050405020304" pitchFamily="18" charset="0"/>
              </a:rPr>
              <a:t>() gives statistical details like mean, min, max, and standard deviation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Useful for understanding data distribution before model training</a:t>
            </a: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
        <p:nvSpPr>
          <p:cNvPr id="4" name="TextBox 4"/>
          <p:cNvSpPr txBox="1"/>
          <p:nvPr/>
        </p:nvSpPr>
        <p:spPr>
          <a:xfrm>
            <a:off x="3276600" y="374333"/>
            <a:ext cx="9697392" cy="836319"/>
          </a:xfrm>
          <a:prstGeom prst="rect">
            <a:avLst/>
          </a:prstGeom>
        </p:spPr>
        <p:txBody>
          <a:bodyPr wrap="square" lIns="0" tIns="0" rIns="0" bIns="0" rtlCol="0" anchor="t">
            <a:spAutoFit/>
          </a:bodyPr>
          <a:lstStyle/>
          <a:p>
            <a:pPr algn="ctr">
              <a:lnSpc>
                <a:spcPts val="7146"/>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Data Preprocessing Summary</a:t>
            </a:r>
          </a:p>
        </p:txBody>
      </p:sp>
      <p:sp>
        <p:nvSpPr>
          <p:cNvPr id="8" name="TextBox 7">
            <a:extLst>
              <a:ext uri="{FF2B5EF4-FFF2-40B4-BE49-F238E27FC236}">
                <a16:creationId xmlns:a16="http://schemas.microsoft.com/office/drawing/2014/main" id="{1F5CA14B-D8EF-410D-94A2-A40CA8A59A8F}"/>
              </a:ext>
            </a:extLst>
          </p:cNvPr>
          <p:cNvSpPr txBox="1"/>
          <p:nvPr/>
        </p:nvSpPr>
        <p:spPr>
          <a:xfrm>
            <a:off x="4648200" y="4944970"/>
            <a:ext cx="11430000" cy="3246530"/>
          </a:xfrm>
          <a:prstGeom prst="rect">
            <a:avLst/>
          </a:prstGeom>
          <a:noFill/>
        </p:spPr>
        <p:txBody>
          <a:bodyPr wrap="square">
            <a:spAutoFit/>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Categorical data is converted into numerical format using encoding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Feature scaling is applied to normalize data values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is transformed into a suitable format for machine learning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Improves accuracy and performance of the model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Raw data is cleaned by handling missing values and removing duplicates </a:t>
            </a:r>
          </a:p>
        </p:txBody>
      </p:sp>
      <p:pic>
        <p:nvPicPr>
          <p:cNvPr id="10" name="Picture 9">
            <a:extLst>
              <a:ext uri="{FF2B5EF4-FFF2-40B4-BE49-F238E27FC236}">
                <a16:creationId xmlns:a16="http://schemas.microsoft.com/office/drawing/2014/main" id="{33C95CD2-9A6B-30DA-9119-BA2CEE8A0F68}"/>
              </a:ext>
            </a:extLst>
          </p:cNvPr>
          <p:cNvPicPr>
            <a:picLocks noChangeAspect="1"/>
          </p:cNvPicPr>
          <p:nvPr/>
        </p:nvPicPr>
        <p:blipFill>
          <a:blip r:embed="rId2">
            <a:extLst>
              <a:ext uri="{28A0092B-C50C-407E-A947-70E740481C1C}">
                <a14:useLocalDpi xmlns:a14="http://schemas.microsoft.com/office/drawing/2010/main" val="0"/>
              </a:ext>
            </a:extLst>
          </a:blip>
          <a:srcRect l="34167" t="49299" r="18749" b="29960"/>
          <a:stretch>
            <a:fillRect/>
          </a:stretch>
        </p:blipFill>
        <p:spPr>
          <a:xfrm>
            <a:off x="5105400" y="2095500"/>
            <a:ext cx="8610600" cy="2133600"/>
          </a:xfrm>
          <a:prstGeom prst="rect">
            <a:avLst/>
          </a:prstGeom>
        </p:spPr>
      </p:pic>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id="3" name="TextBox 3"/>
          <p:cNvSpPr txBox="1"/>
          <p:nvPr/>
        </p:nvSpPr>
        <p:spPr>
          <a:xfrm>
            <a:off x="3007624" y="536317"/>
            <a:ext cx="11560070" cy="836319"/>
          </a:xfrm>
          <a:prstGeom prst="rect">
            <a:avLst/>
          </a:prstGeom>
        </p:spPr>
        <p:txBody>
          <a:bodyPr lIns="0" tIns="0" rIns="0" bIns="0" rtlCol="0" anchor="t">
            <a:spAutoFit/>
          </a:bodyPr>
          <a:lstStyle/>
          <a:p>
            <a:pPr algn="ctr">
              <a:lnSpc>
                <a:spcPts val="7146"/>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MODEL TRAINING</a:t>
            </a:r>
          </a:p>
        </p:txBody>
      </p:sp>
      <p:sp>
        <p:nvSpPr>
          <p:cNvPr id="4" name="TextBox 4"/>
          <p:cNvSpPr txBox="1"/>
          <p:nvPr/>
        </p:nvSpPr>
        <p:spPr>
          <a:xfrm>
            <a:off x="3007624" y="1638300"/>
            <a:ext cx="14391058" cy="7678512"/>
          </a:xfrm>
          <a:prstGeom prst="rect">
            <a:avLst/>
          </a:prstGeom>
        </p:spPr>
        <p:txBody>
          <a:bodyPr wrap="square" lIns="0" tIns="0" rIns="0" bIns="0" rtlCol="0" anchor="t">
            <a:spAutoFit/>
          </a:bodyPr>
          <a:lstStyle/>
          <a:p>
            <a:pPr marL="781051" lvl="1"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this project, the model is trained using the Random Forest algorithm to detect phishing websites based on user behavior and web features. </a:t>
            </a:r>
          </a:p>
          <a:p>
            <a:pPr marL="781051" lvl="1"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After preprocessing, the dataset is divided into training and testing sets using the train-test split method.</a:t>
            </a:r>
          </a:p>
          <a:p>
            <a:pPr marL="781051" lvl="1"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The training data is used to teach the model to recognize patterns between legitimate and phishing activities. Random Forest is chosen because it is robust, handles large datasets efficiently, and provides high accuracy by combining multiple decision trees. </a:t>
            </a:r>
          </a:p>
          <a:p>
            <a:pPr marL="781051" lvl="1"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During training, the model learns from various features such as URL characteristics, user interactions, and response patterns. </a:t>
            </a:r>
          </a:p>
          <a:p>
            <a:pPr marL="781051" lvl="1"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Once trained, the model is evaluated using test data to measure its performance and ensure reliable predictions. This trained model is then used for detecting phishing attacks in real-time scenarios.</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
        <p:nvSpPr>
          <p:cNvPr id="3" name="TextBox 3"/>
          <p:cNvSpPr txBox="1"/>
          <p:nvPr/>
        </p:nvSpPr>
        <p:spPr>
          <a:xfrm>
            <a:off x="3007624" y="536317"/>
            <a:ext cx="11560070" cy="836319"/>
          </a:xfrm>
          <a:prstGeom prst="rect">
            <a:avLst/>
          </a:prstGeom>
        </p:spPr>
        <p:txBody>
          <a:bodyPr lIns="0" tIns="0" rIns="0" bIns="0" rtlCol="0" anchor="t">
            <a:spAutoFit/>
          </a:bodyPr>
          <a:lstStyle/>
          <a:p>
            <a:pPr algn="ctr">
              <a:lnSpc>
                <a:spcPts val="7146"/>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REPORT GENERATION</a:t>
            </a:r>
          </a:p>
        </p:txBody>
      </p:sp>
      <p:sp>
        <p:nvSpPr>
          <p:cNvPr id="4" name="TextBox 4"/>
          <p:cNvSpPr txBox="1"/>
          <p:nvPr/>
        </p:nvSpPr>
        <p:spPr>
          <a:xfrm>
            <a:off x="3581400" y="2019300"/>
            <a:ext cx="12573000" cy="6454909"/>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report generation module presents the output of the phishing detection system in a clear and understandable format.</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It displays whether a website is phishing or legitimate along with a risk level (High, Medium, Low).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report may include details such as detected vulnerabilities, feature analysis, and prediction results. Visualizations like charts and graphs can be used to improve understanding.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helps developers and users quickly identify threats and take necessary actions.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generated reports improve decision-making and enhance overall system security.</a:t>
            </a:r>
          </a:p>
          <a:p>
            <a:pPr algn="just">
              <a:lnSpc>
                <a:spcPts val="5580"/>
              </a:lnSpc>
            </a:pPr>
            <a:endParaRPr lang="en-US" sz="3000" dirty="0">
              <a:solidFill>
                <a:srgbClr val="000000"/>
              </a:solidFill>
              <a:latin typeface="Canva Sans"/>
              <a:ea typeface="Canva Sans"/>
              <a:cs typeface="Canva Sans"/>
              <a:sym typeface="Canva Sans"/>
            </a:endParaRPr>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26</a:t>
            </a:r>
          </a:p>
        </p:txBody>
      </p:sp>
      <p:sp>
        <p:nvSpPr>
          <p:cNvPr id="3" name="TextBox 3"/>
          <p:cNvSpPr txBox="1"/>
          <p:nvPr/>
        </p:nvSpPr>
        <p:spPr>
          <a:xfrm>
            <a:off x="3007624" y="536317"/>
            <a:ext cx="11560070" cy="815160"/>
          </a:xfrm>
          <a:prstGeom prst="rect">
            <a:avLst/>
          </a:prstGeom>
        </p:spPr>
        <p:txBody>
          <a:bodyPr lIns="0" tIns="0" rIns="0" bIns="0" rtlCol="0" anchor="t">
            <a:spAutoFit/>
          </a:bodyPr>
          <a:lstStyle/>
          <a:p>
            <a:pPr algn="ctr">
              <a:lnSpc>
                <a:spcPts val="7146"/>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PERFORMANCE RESULTS</a:t>
            </a:r>
          </a:p>
        </p:txBody>
      </p:sp>
      <p:sp>
        <p:nvSpPr>
          <p:cNvPr id="4" name="TextBox 4"/>
          <p:cNvSpPr txBox="1"/>
          <p:nvPr/>
        </p:nvSpPr>
        <p:spPr>
          <a:xfrm>
            <a:off x="3505200" y="1562101"/>
            <a:ext cx="13258800" cy="7086042"/>
          </a:xfrm>
          <a:prstGeom prst="rect">
            <a:avLst/>
          </a:prstGeom>
        </p:spPr>
        <p:txBody>
          <a:bodyPr wrap="square" lIns="0" tIns="0" rIns="0" bIns="0" rtlCol="0" anchor="t">
            <a:spAutoFit/>
          </a:bodyPr>
          <a:lstStyle/>
          <a:p>
            <a:pPr marL="647702" lvl="1" indent="-323851" algn="just">
              <a:lnSpc>
                <a:spcPts val="5580"/>
              </a:lnSpc>
              <a:buFont typeface="Arial"/>
              <a:buChar char="•"/>
            </a:pPr>
            <a:r>
              <a:rPr lang="en-US" sz="2800" dirty="0">
                <a:latin typeface="Times New Roman" panose="02020603050405020304" pitchFamily="18" charset="0"/>
                <a:cs typeface="Times New Roman" panose="02020603050405020304" pitchFamily="18" charset="0"/>
              </a:rPr>
              <a:t>The performance of the phishing detection model is evaluated using the testing dataset after training. </a:t>
            </a:r>
          </a:p>
          <a:p>
            <a:pPr marL="647702" lvl="1" indent="-323851" algn="just">
              <a:lnSpc>
                <a:spcPts val="5580"/>
              </a:lnSpc>
              <a:buFont typeface="Arial"/>
              <a:buChar char="•"/>
            </a:pPr>
            <a:r>
              <a:rPr lang="en-US" sz="2800" dirty="0">
                <a:latin typeface="Times New Roman" panose="02020603050405020304" pitchFamily="18" charset="0"/>
                <a:cs typeface="Times New Roman" panose="02020603050405020304" pitchFamily="18" charset="0"/>
              </a:rPr>
              <a:t>Metrics such as accuracy are used to measure how well the model classifies phishing and legitimate websites. </a:t>
            </a:r>
          </a:p>
          <a:p>
            <a:pPr marL="647702" lvl="1" indent="-323851" algn="just">
              <a:lnSpc>
                <a:spcPts val="5580"/>
              </a:lnSpc>
              <a:buFont typeface="Arial"/>
              <a:buChar char="•"/>
            </a:pPr>
            <a:r>
              <a:rPr lang="en-US" sz="2800" dirty="0">
                <a:latin typeface="Times New Roman" panose="02020603050405020304" pitchFamily="18" charset="0"/>
                <a:cs typeface="Times New Roman" panose="02020603050405020304" pitchFamily="18" charset="0"/>
              </a:rPr>
              <a:t>The Random Forest model achieves high accuracy due to its ability to handle complex patterns and multiple features. </a:t>
            </a:r>
          </a:p>
          <a:p>
            <a:pPr marL="647702" lvl="1" indent="-323851" algn="just">
              <a:lnSpc>
                <a:spcPts val="5580"/>
              </a:lnSpc>
              <a:buFont typeface="Arial"/>
              <a:buChar char="•"/>
            </a:pPr>
            <a:r>
              <a:rPr lang="en-US" sz="2800" dirty="0">
                <a:latin typeface="Times New Roman" panose="02020603050405020304" pitchFamily="18" charset="0"/>
                <a:cs typeface="Times New Roman" panose="02020603050405020304" pitchFamily="18" charset="0"/>
              </a:rPr>
              <a:t>Both training and testing accuracy are compared to ensure that the model is not overfitting.</a:t>
            </a:r>
          </a:p>
          <a:p>
            <a:pPr marL="647702" lvl="1" indent="-323851" algn="just">
              <a:lnSpc>
                <a:spcPts val="5580"/>
              </a:lnSpc>
              <a:buFont typeface="Arial"/>
              <a:buChar char="•"/>
            </a:pPr>
            <a:r>
              <a:rPr lang="en-US" sz="2800" dirty="0">
                <a:latin typeface="Times New Roman" panose="02020603050405020304" pitchFamily="18" charset="0"/>
                <a:cs typeface="Times New Roman" panose="02020603050405020304" pitchFamily="18" charset="0"/>
              </a:rPr>
              <a:t> Additional evaluation metrics like precision, recall, and F1-score can also be used to analyze the model’s effectiveness in detecting phishing attacks. </a:t>
            </a: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27</a:t>
            </a:r>
          </a:p>
        </p:txBody>
      </p:sp>
      <p:sp>
        <p:nvSpPr>
          <p:cNvPr id="3" name="TextBox 3"/>
          <p:cNvSpPr txBox="1"/>
          <p:nvPr/>
        </p:nvSpPr>
        <p:spPr>
          <a:xfrm>
            <a:off x="3007624" y="536317"/>
            <a:ext cx="11560070" cy="836319"/>
          </a:xfrm>
          <a:prstGeom prst="rect">
            <a:avLst/>
          </a:prstGeom>
        </p:spPr>
        <p:txBody>
          <a:bodyPr lIns="0" tIns="0" rIns="0" bIns="0" rtlCol="0" anchor="t">
            <a:spAutoFit/>
          </a:bodyPr>
          <a:lstStyle/>
          <a:p>
            <a:pPr algn="ctr">
              <a:lnSpc>
                <a:spcPts val="7146"/>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OVERALL DISCUSSION</a:t>
            </a:r>
          </a:p>
        </p:txBody>
      </p:sp>
      <p:sp>
        <p:nvSpPr>
          <p:cNvPr id="4" name="TextBox 4"/>
          <p:cNvSpPr txBox="1"/>
          <p:nvPr/>
        </p:nvSpPr>
        <p:spPr>
          <a:xfrm>
            <a:off x="3657600" y="1714500"/>
            <a:ext cx="12344400" cy="7032181"/>
          </a:xfrm>
          <a:prstGeom prst="rect">
            <a:avLst/>
          </a:prstGeom>
        </p:spPr>
        <p:txBody>
          <a:bodyPr wrap="square" lIns="0" tIns="0" rIns="0" bIns="0" rtlCol="0" anchor="t">
            <a:spAutoFit/>
          </a:bodyPr>
          <a:lstStyle/>
          <a:p>
            <a:pPr marL="647702" lvl="1" indent="-323851" algn="just">
              <a:lnSpc>
                <a:spcPct val="150000"/>
              </a:lnSpc>
              <a:buFont typeface="Arial"/>
              <a:buChar char="•"/>
            </a:pPr>
            <a:r>
              <a:rPr lang="en-US" sz="2800" dirty="0">
                <a:latin typeface="Times New Roman" panose="02020603050405020304" pitchFamily="18" charset="0"/>
                <a:cs typeface="Times New Roman" panose="02020603050405020304" pitchFamily="18" charset="0"/>
              </a:rPr>
              <a:t>This project presents an effective approach for detecting phishing websites using machine learning techniques and behavioral analysis.</a:t>
            </a:r>
          </a:p>
          <a:p>
            <a:pPr marL="647702" lvl="1" indent="-323851" algn="just">
              <a:lnSpc>
                <a:spcPct val="150000"/>
              </a:lnSpc>
              <a:buFont typeface="Arial"/>
              <a:buChar char="•"/>
            </a:pPr>
            <a:r>
              <a:rPr lang="en-US" sz="2800" dirty="0">
                <a:latin typeface="Times New Roman" panose="02020603050405020304" pitchFamily="18" charset="0"/>
                <a:cs typeface="Times New Roman" panose="02020603050405020304" pitchFamily="18" charset="0"/>
              </a:rPr>
              <a:t> The system collects data from web interactions and processes it through various stages such as preprocessing, feature extraction, and model training.</a:t>
            </a:r>
          </a:p>
          <a:p>
            <a:pPr marL="647702" lvl="1" indent="-323851" algn="just">
              <a:lnSpc>
                <a:spcPct val="150000"/>
              </a:lnSpc>
              <a:buFont typeface="Arial"/>
              <a:buChar char="•"/>
            </a:pPr>
            <a:r>
              <a:rPr lang="en-US" sz="2800" dirty="0">
                <a:latin typeface="Times New Roman" panose="02020603050405020304" pitchFamily="18" charset="0"/>
                <a:cs typeface="Times New Roman" panose="02020603050405020304" pitchFamily="18" charset="0"/>
              </a:rPr>
              <a:t> The use of the Random Forest algorithm helps in achieving high accuracy due to its ability to handle complex patterns and multiple features. </a:t>
            </a:r>
          </a:p>
          <a:p>
            <a:pPr marL="647702" lvl="1" indent="-323851" algn="just">
              <a:lnSpc>
                <a:spcPct val="150000"/>
              </a:lnSpc>
              <a:buFont typeface="Arial"/>
              <a:buChar char="•"/>
            </a:pPr>
            <a:r>
              <a:rPr lang="en-US" sz="2800" dirty="0">
                <a:latin typeface="Times New Roman" panose="02020603050405020304" pitchFamily="18" charset="0"/>
                <a:cs typeface="Times New Roman" panose="02020603050405020304" pitchFamily="18" charset="0"/>
              </a:rPr>
              <a:t>The model successfully distinguishes between phishing and legitimate websites based on user behavior and web characteristics.</a:t>
            </a:r>
          </a:p>
          <a:p>
            <a:pPr marL="647702" lvl="1" indent="-323851" algn="just">
              <a:lnSpc>
                <a:spcPct val="150000"/>
              </a:lnSpc>
              <a:buFont typeface="Arial"/>
              <a:buChar char="•"/>
            </a:pPr>
            <a:r>
              <a:rPr lang="en-US" sz="2800" dirty="0">
                <a:latin typeface="Times New Roman" panose="02020603050405020304" pitchFamily="18" charset="0"/>
                <a:cs typeface="Times New Roman" panose="02020603050405020304" pitchFamily="18" charset="0"/>
              </a:rPr>
              <a:t> Performance evaluation shows that the system provides reliable and consistent results. Additionally, the report generation module helps in clearly presenting the outcomes with risk levels and recommendations. </a:t>
            </a:r>
            <a:endParaRPr lang="en-US" sz="2800"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28</a:t>
            </a:r>
          </a:p>
        </p:txBody>
      </p:sp>
      <p:sp>
        <p:nvSpPr>
          <p:cNvPr id="4" name="TextBox 4"/>
          <p:cNvSpPr txBox="1"/>
          <p:nvPr/>
        </p:nvSpPr>
        <p:spPr>
          <a:xfrm>
            <a:off x="3007624" y="536317"/>
            <a:ext cx="11560070" cy="836319"/>
          </a:xfrm>
          <a:prstGeom prst="rect">
            <a:avLst/>
          </a:prstGeom>
        </p:spPr>
        <p:txBody>
          <a:bodyPr lIns="0" tIns="0" rIns="0" bIns="0" rtlCol="0" anchor="t">
            <a:spAutoFit/>
          </a:bodyPr>
          <a:lstStyle/>
          <a:p>
            <a:pPr algn="ctr">
              <a:lnSpc>
                <a:spcPts val="7146"/>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SCREEN LAYOUT</a:t>
            </a:r>
          </a:p>
        </p:txBody>
      </p:sp>
      <p:sp>
        <p:nvSpPr>
          <p:cNvPr id="5" name="TextBox 5"/>
          <p:cNvSpPr txBox="1"/>
          <p:nvPr/>
        </p:nvSpPr>
        <p:spPr>
          <a:xfrm>
            <a:off x="-718235" y="1813056"/>
            <a:ext cx="11560070" cy="565026"/>
          </a:xfrm>
          <a:prstGeom prst="rect">
            <a:avLst/>
          </a:prstGeom>
        </p:spPr>
        <p:txBody>
          <a:bodyPr lIns="0" tIns="0" rIns="0" bIns="0" rtlCol="0" anchor="t">
            <a:spAutoFit/>
          </a:bodyPr>
          <a:lstStyle/>
          <a:p>
            <a:pPr algn="ctr">
              <a:lnSpc>
                <a:spcPts val="5046"/>
              </a:lnSpc>
            </a:pPr>
            <a:r>
              <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rPr>
              <a:t>Home page</a:t>
            </a:r>
          </a:p>
        </p:txBody>
      </p:sp>
      <p:pic>
        <p:nvPicPr>
          <p:cNvPr id="6" name="Picture 5">
            <a:extLst>
              <a:ext uri="{FF2B5EF4-FFF2-40B4-BE49-F238E27FC236}">
                <a16:creationId xmlns:a16="http://schemas.microsoft.com/office/drawing/2014/main" id="{976D4DDB-019C-E035-B452-24B481E1DD3F}"/>
              </a:ext>
            </a:extLst>
          </p:cNvPr>
          <p:cNvPicPr/>
          <p:nvPr/>
        </p:nvPicPr>
        <p:blipFill>
          <a:blip r:embed="rId2"/>
          <a:stretch>
            <a:fillRect/>
          </a:stretch>
        </p:blipFill>
        <p:spPr>
          <a:xfrm>
            <a:off x="3810000" y="3018528"/>
            <a:ext cx="13030200" cy="6392172"/>
          </a:xfrm>
          <a:prstGeom prst="rect">
            <a:avLst/>
          </a:prstGeom>
        </p:spPr>
      </p:pic>
    </p:spTree>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29</a:t>
            </a:r>
          </a:p>
        </p:txBody>
      </p:sp>
      <p:sp>
        <p:nvSpPr>
          <p:cNvPr id="6" name="TextBox 6"/>
          <p:cNvSpPr txBox="1"/>
          <p:nvPr/>
        </p:nvSpPr>
        <p:spPr>
          <a:xfrm>
            <a:off x="3581400" y="2019300"/>
            <a:ext cx="11560070" cy="707886"/>
          </a:xfrm>
          <a:prstGeom prst="rect">
            <a:avLst/>
          </a:prstGeom>
        </p:spPr>
        <p:txBody>
          <a:bodyPr lIns="0" tIns="0" rIns="0" bIns="0" rtlCol="0" anchor="t">
            <a:spAutoFit/>
          </a:bodyPr>
          <a:lstStyle/>
          <a:p>
            <a:r>
              <a:rPr lang="en-IN" sz="2800" b="1" dirty="0">
                <a:latin typeface="Times New Roman" panose="02020603050405020304" pitchFamily="18" charset="0"/>
                <a:cs typeface="Times New Roman" panose="02020603050405020304" pitchFamily="18" charset="0"/>
              </a:rPr>
              <a:t>New User Registration </a:t>
            </a:r>
          </a:p>
          <a:p>
            <a:r>
              <a:rPr lang="en-IN" dirty="0"/>
              <a:t> </a:t>
            </a:r>
          </a:p>
        </p:txBody>
      </p:sp>
      <p:pic>
        <p:nvPicPr>
          <p:cNvPr id="7" name="Picture 6">
            <a:extLst>
              <a:ext uri="{FF2B5EF4-FFF2-40B4-BE49-F238E27FC236}">
                <a16:creationId xmlns:a16="http://schemas.microsoft.com/office/drawing/2014/main" id="{35DFEBE9-43EC-B0C4-635D-AEDFFE5A87BA}"/>
              </a:ext>
            </a:extLst>
          </p:cNvPr>
          <p:cNvPicPr/>
          <p:nvPr/>
        </p:nvPicPr>
        <p:blipFill>
          <a:blip r:embed="rId2"/>
          <a:stretch>
            <a:fillRect/>
          </a:stretch>
        </p:blipFill>
        <p:spPr>
          <a:xfrm>
            <a:off x="4419600" y="2933700"/>
            <a:ext cx="10721870" cy="6036849"/>
          </a:xfrm>
          <a:prstGeom prst="rect">
            <a:avLst/>
          </a:prstGeom>
        </p:spPr>
      </p:pic>
    </p:spTree>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30</a:t>
            </a:r>
          </a:p>
        </p:txBody>
      </p:sp>
      <p:sp>
        <p:nvSpPr>
          <p:cNvPr id="6" name="TextBox 6"/>
          <p:cNvSpPr txBox="1"/>
          <p:nvPr/>
        </p:nvSpPr>
        <p:spPr>
          <a:xfrm>
            <a:off x="-718235" y="1813056"/>
            <a:ext cx="11560070" cy="565026"/>
          </a:xfrm>
          <a:prstGeom prst="rect">
            <a:avLst/>
          </a:prstGeom>
        </p:spPr>
        <p:txBody>
          <a:bodyPr lIns="0" tIns="0" rIns="0" bIns="0" rtlCol="0" anchor="t">
            <a:spAutoFit/>
          </a:bodyPr>
          <a:lstStyle/>
          <a:p>
            <a:pPr algn="ctr">
              <a:lnSpc>
                <a:spcPts val="5046"/>
              </a:lnSpc>
            </a:pPr>
            <a:r>
              <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rPr>
              <a:t>User login</a:t>
            </a:r>
          </a:p>
        </p:txBody>
      </p:sp>
      <p:pic>
        <p:nvPicPr>
          <p:cNvPr id="7" name="Picture 6">
            <a:extLst>
              <a:ext uri="{FF2B5EF4-FFF2-40B4-BE49-F238E27FC236}">
                <a16:creationId xmlns:a16="http://schemas.microsoft.com/office/drawing/2014/main" id="{B85D3249-6E03-0E2A-5B46-F5410A8BD5C8}"/>
              </a:ext>
            </a:extLst>
          </p:cNvPr>
          <p:cNvPicPr/>
          <p:nvPr/>
        </p:nvPicPr>
        <p:blipFill>
          <a:blip r:embed="rId2"/>
          <a:stretch>
            <a:fillRect/>
          </a:stretch>
        </p:blipFill>
        <p:spPr>
          <a:xfrm>
            <a:off x="4343400" y="3009900"/>
            <a:ext cx="10820400" cy="5638800"/>
          </a:xfrm>
          <a:prstGeom prst="rect">
            <a:avLst/>
          </a:prstGeom>
        </p:spPr>
      </p:pic>
    </p:spTree>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31</a:t>
            </a:r>
          </a:p>
        </p:txBody>
      </p:sp>
      <p:sp>
        <p:nvSpPr>
          <p:cNvPr id="6" name="TextBox 6"/>
          <p:cNvSpPr txBox="1"/>
          <p:nvPr/>
        </p:nvSpPr>
        <p:spPr>
          <a:xfrm>
            <a:off x="-718235" y="1813056"/>
            <a:ext cx="11560070" cy="565026"/>
          </a:xfrm>
          <a:prstGeom prst="rect">
            <a:avLst/>
          </a:prstGeom>
        </p:spPr>
        <p:txBody>
          <a:bodyPr lIns="0" tIns="0" rIns="0" bIns="0" rtlCol="0" anchor="t">
            <a:spAutoFit/>
          </a:bodyPr>
          <a:lstStyle/>
          <a:p>
            <a:pPr algn="ctr">
              <a:lnSpc>
                <a:spcPts val="5046"/>
              </a:lnSpc>
            </a:pPr>
            <a:r>
              <a:rPr lang="en-US" sz="2800" b="1" dirty="0">
                <a:solidFill>
                  <a:srgbClr val="000000"/>
                </a:solidFill>
                <a:latin typeface="Times New Roman" panose="02020603050405020304" pitchFamily="18" charset="0"/>
                <a:ea typeface="Canva Sans Bold"/>
                <a:cs typeface="Times New Roman" panose="02020603050405020304" pitchFamily="18" charset="0"/>
                <a:sym typeface="Canva Sans Bold"/>
              </a:rPr>
              <a:t>View profile</a:t>
            </a:r>
          </a:p>
        </p:txBody>
      </p:sp>
      <p:pic>
        <p:nvPicPr>
          <p:cNvPr id="8" name="Picture 7">
            <a:extLst>
              <a:ext uri="{FF2B5EF4-FFF2-40B4-BE49-F238E27FC236}">
                <a16:creationId xmlns:a16="http://schemas.microsoft.com/office/drawing/2014/main" id="{7FC58658-970A-085F-1412-0C4B482E1068}"/>
              </a:ext>
            </a:extLst>
          </p:cNvPr>
          <p:cNvPicPr/>
          <p:nvPr/>
        </p:nvPicPr>
        <p:blipFill>
          <a:blip r:embed="rId2"/>
          <a:stretch>
            <a:fillRect/>
          </a:stretch>
        </p:blipFill>
        <p:spPr>
          <a:xfrm>
            <a:off x="4648200" y="2933700"/>
            <a:ext cx="10744200" cy="5540244"/>
          </a:xfrm>
          <a:prstGeom prst="rect">
            <a:avLst/>
          </a:prstGeom>
        </p:spPr>
      </p:pic>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32</a:t>
            </a:r>
          </a:p>
        </p:txBody>
      </p:sp>
      <p:sp>
        <p:nvSpPr>
          <p:cNvPr id="6" name="TextBox 6"/>
          <p:cNvSpPr txBox="1"/>
          <p:nvPr/>
        </p:nvSpPr>
        <p:spPr>
          <a:xfrm>
            <a:off x="2955221" y="1943100"/>
            <a:ext cx="11560070" cy="430887"/>
          </a:xfrm>
          <a:prstGeom prst="rect">
            <a:avLst/>
          </a:prstGeom>
        </p:spPr>
        <p:txBody>
          <a:bodyPr lIns="0" tIns="0" rIns="0" bIns="0" rtlCol="0" anchor="t">
            <a:spAutoFit/>
          </a:bodyPr>
          <a:lstStyle/>
          <a:p>
            <a:r>
              <a:rPr lang="en-IN" sz="2800" b="1" dirty="0">
                <a:latin typeface="Times New Roman" panose="02020603050405020304" pitchFamily="18" charset="0"/>
                <a:cs typeface="Times New Roman" panose="02020603050405020304" pitchFamily="18" charset="0"/>
              </a:rPr>
              <a:t>Web Vulnerability  </a:t>
            </a: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6105433-2E70-0768-AAC0-74F9D8C6D052}"/>
              </a:ext>
            </a:extLst>
          </p:cNvPr>
          <p:cNvPicPr/>
          <p:nvPr/>
        </p:nvPicPr>
        <p:blipFill>
          <a:blip r:embed="rId2"/>
          <a:stretch>
            <a:fillRect/>
          </a:stretch>
        </p:blipFill>
        <p:spPr>
          <a:xfrm>
            <a:off x="3962400" y="3009900"/>
            <a:ext cx="11353800" cy="5867399"/>
          </a:xfrm>
          <a:prstGeom prst="rect">
            <a:avLst/>
          </a:prstGeom>
        </p:spPr>
      </p:pic>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33</a:t>
            </a:r>
          </a:p>
        </p:txBody>
      </p:sp>
      <p:sp>
        <p:nvSpPr>
          <p:cNvPr id="7" name="TextBox 7"/>
          <p:cNvSpPr txBox="1"/>
          <p:nvPr/>
        </p:nvSpPr>
        <p:spPr>
          <a:xfrm>
            <a:off x="2743199" y="2019300"/>
            <a:ext cx="8098635" cy="430887"/>
          </a:xfrm>
          <a:prstGeom prst="rect">
            <a:avLst/>
          </a:prstGeom>
        </p:spPr>
        <p:txBody>
          <a:bodyPr wrap="square" lIns="0" tIns="0" rIns="0" bIns="0" rtlCol="0" anchor="t">
            <a:spAutoFit/>
          </a:bodyPr>
          <a:lstStyle/>
          <a:p>
            <a:r>
              <a:rPr lang="en-IN" sz="2800" b="1" dirty="0">
                <a:latin typeface="Times New Roman" panose="02020603050405020304" pitchFamily="18" charset="0"/>
                <a:cs typeface="Times New Roman" panose="02020603050405020304" pitchFamily="18" charset="0"/>
              </a:rPr>
              <a:t>Web Vulnerability Scan Result </a:t>
            </a:r>
            <a:endParaRPr lang="en-IN"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BFA338C-B53C-E73C-CE61-5EC1E586BE36}"/>
              </a:ext>
            </a:extLst>
          </p:cNvPr>
          <p:cNvPicPr/>
          <p:nvPr/>
        </p:nvPicPr>
        <p:blipFill>
          <a:blip r:embed="rId2"/>
          <a:stretch>
            <a:fillRect/>
          </a:stretch>
        </p:blipFill>
        <p:spPr>
          <a:xfrm>
            <a:off x="3200400" y="3328218"/>
            <a:ext cx="10439400" cy="5472881"/>
          </a:xfrm>
          <a:prstGeom prst="rect">
            <a:avLst/>
          </a:prstGeom>
        </p:spPr>
      </p:pic>
    </p:spTree>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37</a:t>
            </a:r>
          </a:p>
        </p:txBody>
      </p:sp>
      <p:sp>
        <p:nvSpPr>
          <p:cNvPr id="3" name="TextBox 3"/>
          <p:cNvSpPr txBox="1"/>
          <p:nvPr/>
        </p:nvSpPr>
        <p:spPr>
          <a:xfrm>
            <a:off x="3007624" y="536317"/>
            <a:ext cx="11560070" cy="836319"/>
          </a:xfrm>
          <a:prstGeom prst="rect">
            <a:avLst/>
          </a:prstGeom>
        </p:spPr>
        <p:txBody>
          <a:bodyPr lIns="0" tIns="0" rIns="0" bIns="0" rtlCol="0" anchor="t">
            <a:spAutoFit/>
          </a:bodyPr>
          <a:lstStyle/>
          <a:p>
            <a:pPr algn="ctr">
              <a:lnSpc>
                <a:spcPts val="7146"/>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CONCLUSION</a:t>
            </a:r>
          </a:p>
        </p:txBody>
      </p:sp>
      <p:sp>
        <p:nvSpPr>
          <p:cNvPr id="4" name="TextBox 4"/>
          <p:cNvSpPr txBox="1"/>
          <p:nvPr/>
        </p:nvSpPr>
        <p:spPr>
          <a:xfrm>
            <a:off x="3962400" y="2247900"/>
            <a:ext cx="11963400" cy="6454909"/>
          </a:xfrm>
          <a:prstGeom prst="rect">
            <a:avLst/>
          </a:prstGeom>
        </p:spPr>
        <p:txBody>
          <a:bodyPr wrap="square" lIns="0" tIns="0" rIns="0" bIns="0" rtlCol="0" anchor="t">
            <a:spAutoFit/>
          </a:bodyPr>
          <a:lstStyle/>
          <a:p>
            <a:pPr marL="457200" indent="-457200" algn="just">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 conclusion, this project highlights the critical importance of securing web applications against prevalent vulnerabilities such as SQL injection, cross-site scripting (XSS), and insecure configurations. </a:t>
            </a:r>
          </a:p>
          <a:p>
            <a:pPr marL="457200" indent="-457200" algn="just">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By leveraging Python-based techniques for automated data collection, preprocessing, vulnerability scanning, and response analysis, the project provides a systematic approach to identifying and mitigating security risks.</a:t>
            </a:r>
          </a:p>
          <a:p>
            <a:pPr marL="457200" indent="-457200" algn="just">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The proposed framework not only enhances detection accuracy but also reduces manual effort, ensuring that developers and security professionals can proactively safeguard sensitive data and maintain user trust. </a:t>
            </a:r>
          </a:p>
          <a:p>
            <a:pPr algn="just">
              <a:lnSpc>
                <a:spcPts val="5580"/>
              </a:lnSpc>
            </a:pPr>
            <a:endParaRPr lang="en-US" sz="3000" dirty="0">
              <a:solidFill>
                <a:srgbClr val="000000"/>
              </a:solidFill>
              <a:latin typeface="Canva Sans"/>
              <a:ea typeface="Canva Sans"/>
              <a:cs typeface="Canva Sans"/>
              <a:sym typeface="Canva Sans"/>
            </a:endParaRPr>
          </a:p>
        </p:txBody>
      </p:sp>
    </p:spTree>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781800" y="3771900"/>
            <a:ext cx="5892946" cy="1442703"/>
          </a:xfrm>
          <a:prstGeom prst="rect">
            <a:avLst/>
          </a:prstGeom>
        </p:spPr>
        <p:txBody>
          <a:bodyPr wrap="square" lIns="0" tIns="0" rIns="0" bIns="0" rtlCol="0" anchor="t">
            <a:spAutoFit/>
          </a:bodyPr>
          <a:lstStyle/>
          <a:p>
            <a:pPr algn="l">
              <a:lnSpc>
                <a:spcPts val="11985"/>
              </a:lnSpc>
            </a:pPr>
            <a:r>
              <a:rPr lang="en-US" sz="9600" dirty="0">
                <a:solidFill>
                  <a:srgbClr val="000000"/>
                </a:solidFill>
                <a:latin typeface="Times New Roman" panose="02020603050405020304" pitchFamily="18" charset="0"/>
                <a:ea typeface="Alegreya Sans SC"/>
                <a:cs typeface="Times New Roman" panose="02020603050405020304" pitchFamily="18" charset="0"/>
                <a:sym typeface="Alegreya Sans SC"/>
              </a:rPr>
              <a:t>Thank You</a:t>
            </a: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38</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300</TotalTime>
  <Words>2116</Words>
  <Application>Microsoft Office PowerPoint</Application>
  <PresentationFormat>Custom</PresentationFormat>
  <Paragraphs>212</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Canva Sans</vt:lpstr>
      <vt:lpstr>Canva Sans Bold</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Batch 5</dc:title>
  <dc:creator>thangamayil r</dc:creator>
  <cp:lastModifiedBy>thangamayil r</cp:lastModifiedBy>
  <cp:revision>5</cp:revision>
  <dcterms:created xsi:type="dcterms:W3CDTF">2006-08-16T00:00:00Z</dcterms:created>
  <dcterms:modified xsi:type="dcterms:W3CDTF">2026-04-23T07:57:55Z</dcterms:modified>
  <dc:identifier>DAG_4rkWO-A</dc:identifier>
</cp:coreProperties>
</file>